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jpeg" ContentType="image/jpe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</p:sld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8ED71C-AF60-4E4A-BFD4-661ADB0B88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7A144A-0019-4E8F-A29B-FBDE357133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C535856-ABE8-4FF7-A2B1-7F37853D3B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73E4BF0-B072-4D09-9B7D-562747D25D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E950CF4-3E3D-4CBC-95DC-FAB51C0ED3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3DFF8F4-EB5A-43E1-82CD-70DFAA96D9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9152255-0759-4F2C-823C-0ABB56F380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D402B42-EEC5-4FA5-BFD4-ABA839C7B4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2259CF4-4029-49F4-9586-34A62B2DF0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64D33DA-9E49-436D-8012-4115E392DC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1AC2573-09BA-4706-BCB3-25629C0931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DBE999E-0B3E-4326-9771-47D57F0007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F7D4CA08-CF9F-4F4C-87E0-58428D5936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F3CFD313-01DE-4F28-A28F-F5C1D97FE1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F057DEED-03B3-4A90-AC2A-8180C5BDBE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26E3EF1D-04A5-4F55-A542-FEA8F8A913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DBC384A6-6FA2-40DE-9787-7E946D8267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41CACE8E-0A04-43B1-941E-29483122CF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A5C09F7D-220C-4BE9-847F-E99E642B24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F4D9249B-5827-4D7C-B55A-2A49E619FA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50E0ED2D-0D93-4629-A6F9-C8F88D48E6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3C969BCA-33D6-4A22-9CD4-43BAA943B7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418FBE1B-C106-4B50-B5E8-D582CE4AF0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290520-892A-4228-A1CD-EDF110EF74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4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414200-C046-4A8F-86E5-105AF092CC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785680" y="274680"/>
            <a:ext cx="36572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12880" y="274680"/>
            <a:ext cx="107694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161581-EEAB-410F-9B4F-7B779E99CC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73CB15-F167-492C-9715-D90107C001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5522E4-49E2-4830-ABD8-D0DC31C49A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72133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229600" y="1600200"/>
            <a:ext cx="72133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6F9AF5-C01E-4DA6-A09E-83735F4F90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BB94C9-0F69-4A70-8D62-A50998A6C0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D352E0-6005-4FB0-A68E-9D67F98C2B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2B615F-B738-415C-9208-1BDB3D0972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363E1A-8D30-440D-9705-4DAFA6C852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61AA89-630C-4B33-95DF-621C996886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3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3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02341D-0052-4662-929E-63F3B35BEAF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3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1DA7EC-57A5-44CA-AD18-D1298EB5348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785680" y="274680"/>
            <a:ext cx="36572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12880" y="274680"/>
            <a:ext cx="107694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4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4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5E59C2-4795-429C-AFAF-9758A37DF23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22400"/>
            <a:ext cx="10058040" cy="102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447920"/>
            <a:ext cx="10972440" cy="46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4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DE0FBF-DA4B-4C52-ABCE-65EB0E2186F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4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ftr" idx="4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sldNum" idx="4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EEB80A-0F45-4B76-94D6-10C5A2337EE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4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ftr" idx="5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sldNum" idx="5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ED01BA-D466-4DCE-B7E1-3D9FB2CE3B6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72133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8229600" y="1600200"/>
            <a:ext cx="72133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5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5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sldNum" idx="5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B791F1-3D71-4019-91B9-73F58344999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dt" idx="5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ftr" idx="5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8"/>
          <p:cNvSpPr>
            <a:spLocks noGrp="1"/>
          </p:cNvSpPr>
          <p:nvPr>
            <p:ph type="sldNum" idx="5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5054C4-82D5-4879-BB3A-B60B3208DE8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dt" idx="5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ftr" idx="5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6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F5C1F2-899B-4F66-96C6-AAC2C5E2800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dt" idx="6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ftr" idx="6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6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B9DEC6-A6F0-4407-8FEE-BFDF090222C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6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6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sldNum" idx="6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686E7E-0AB0-40E6-8849-84A1BAF4F10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 idx="6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 idx="6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 idx="6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44842A-8C5C-4CA6-B8E8-600E92E54A7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1105560" y="1869840"/>
            <a:ext cx="9948960" cy="38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00b050"/>
                </a:solidFill>
                <a:latin typeface="Arial"/>
              </a:rPr>
              <a:t>TOPIC 1.3 – MODULATION- BENEFITS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3" descr="fTop-Image copy"/>
          <p:cNvPicPr/>
          <p:nvPr/>
        </p:nvPicPr>
        <p:blipFill>
          <a:blip r:embed="rId1"/>
          <a:stretch/>
        </p:blipFill>
        <p:spPr>
          <a:xfrm>
            <a:off x="423000" y="395640"/>
            <a:ext cx="11409120" cy="1071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8A1337E-3793-43F8-BC6F-599AAE5D6D13}" type="slidenum">
              <a:t>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4"/>
          </p:nvPr>
        </p:nvSpPr>
        <p:spPr/>
        <p:txBody>
          <a:bodyPr/>
          <a:p>
            <a:fld id="{AB021AC1-F0F2-4FBC-AFDB-9DAC490E4C50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330560" y="467280"/>
            <a:ext cx="9600840" cy="75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500" spc="-1" strike="noStrike">
                <a:solidFill>
                  <a:schemeClr val="dk1"/>
                </a:solidFill>
                <a:latin typeface="Arial"/>
              </a:rPr>
              <a:t>OBJECTIVES</a:t>
            </a:r>
            <a:endParaRPr b="0" lang="en-US" sz="3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27200" y="1501200"/>
            <a:ext cx="10515240" cy="454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2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To understand the meaning of Modulation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2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To know the important of Modulation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2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To learn the need for Modulation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2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To introduce various kinds of Modulation techniques </a:t>
            </a: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3" name="Picture 3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3D1913D-413B-4093-B407-85460EA6A3FD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2EBC36E-2506-42A9-9A66-DF9BD60A5FB8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398960" y="494640"/>
            <a:ext cx="9600840" cy="77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</a:rPr>
              <a:t>MODULATION</a:t>
            </a:r>
            <a:br>
              <a:rPr sz="36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75720" y="928080"/>
            <a:ext cx="10733760" cy="652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Modulate = Regulate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process of regulating is modulation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One physical quantity is changing in accordance with another physical quantity.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Carrier signal is changing with message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signal in electrical communication.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br>
              <a:rPr sz="2400"/>
            </a:br>
            <a:br>
              <a:rPr sz="2400"/>
            </a:br>
            <a:br>
              <a:rPr sz="3200"/>
            </a:b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6" name="Picture 4" descr=""/>
          <p:cNvPicPr/>
          <p:nvPr/>
        </p:nvPicPr>
        <p:blipFill>
          <a:blip r:embed="rId1"/>
          <a:stretch/>
        </p:blipFill>
        <p:spPr>
          <a:xfrm>
            <a:off x="6646320" y="3176280"/>
            <a:ext cx="4844520" cy="325116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5" descr="SKCET LOGO.jpg"/>
          <p:cNvPicPr/>
          <p:nvPr/>
        </p:nvPicPr>
        <p:blipFill>
          <a:blip r:embed="rId2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F736AE-AB3D-47B8-AB66-05FB0E007F43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B0632F8-4266-4EC9-9474-2C71D35C3A15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70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9779" lnSpcReduction="10000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Arial"/>
              </a:rPr>
              <a:t>THE ROLE OF MODULATION </a:t>
            </a:r>
            <a:br>
              <a:rPr sz="4400"/>
            </a:b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21880" y="1337400"/>
            <a:ext cx="10396080" cy="528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How can we communicate with people from distant places?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We need something which will carry our message to desire place(carrier signal).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Modulation can only do the process to take carrier signal with our message signal.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Without modulation, our message signal will not be received by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destination.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br>
              <a:rPr sz="3200"/>
            </a:b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0" name="Picture 3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151" name="PlaceHolder 3"/>
          <p:cNvSpPr>
            <a:spLocks noGrp="1"/>
          </p:cNvSpPr>
          <p:nvPr>
            <p:ph type="dt" idx="7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FC567948-76B5-4B76-AD8D-6A8FE8415DB8}" type="datetime1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03/11/2026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7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06D7B2-AC3D-40D8-A4F0-9798AF7CAA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4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ftr" idx="7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FDMC - II IT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385280" y="904320"/>
            <a:ext cx="9600840" cy="70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9779" lnSpcReduction="10000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900" spc="-1" strike="noStrike">
                <a:solidFill>
                  <a:schemeClr val="dk1"/>
                </a:solidFill>
                <a:latin typeface="Arial"/>
              </a:rPr>
              <a:t>NEED FOR MODULATION</a:t>
            </a: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 </a:t>
            </a:r>
            <a:br>
              <a:rPr sz="4400"/>
            </a:b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58080" y="1828080"/>
            <a:ext cx="10396080" cy="585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5932"/>
          </a:bodyPr>
          <a:p>
            <a:pPr marL="343080" indent="-343080" algn="just" defTabSz="914400">
              <a:lnSpc>
                <a:spcPct val="170000"/>
              </a:lnSpc>
              <a:spcBef>
                <a:spcPts val="1179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5900" spc="-1" strike="noStrike">
                <a:solidFill>
                  <a:schemeClr val="dk1"/>
                </a:solidFill>
                <a:latin typeface="Arial"/>
              </a:rPr>
              <a:t>The main reason is the disturbance of noise. </a:t>
            </a:r>
            <a:endParaRPr b="0" lang="en-US" sz="59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70000"/>
              </a:lnSpc>
              <a:spcBef>
                <a:spcPts val="1179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5900" spc="-1" strike="noStrike">
                <a:solidFill>
                  <a:schemeClr val="dk1"/>
                </a:solidFill>
                <a:latin typeface="Arial"/>
              </a:rPr>
              <a:t>After transmitting, our message signal can be attacked by unwanted signals in the channel. </a:t>
            </a:r>
            <a:endParaRPr b="0" lang="en-US" sz="59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70000"/>
              </a:lnSpc>
              <a:spcBef>
                <a:spcPts val="1179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5900" spc="-1" strike="noStrike">
                <a:solidFill>
                  <a:schemeClr val="dk1"/>
                </a:solidFill>
                <a:latin typeface="Arial"/>
              </a:rPr>
              <a:t>Message signal can be modified into unwanted signal by noise. </a:t>
            </a:r>
            <a:endParaRPr b="0" lang="en-US" sz="59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70000"/>
              </a:lnSpc>
              <a:spcBef>
                <a:spcPts val="1179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5900" spc="-1" strike="noStrike">
                <a:solidFill>
                  <a:schemeClr val="dk1"/>
                </a:solidFill>
                <a:latin typeface="Arial"/>
              </a:rPr>
              <a:t>Because of noise, modulation must be done before transmitting. </a:t>
            </a:r>
            <a:br>
              <a:rPr sz="2400"/>
            </a:br>
            <a:br>
              <a:rPr sz="2400"/>
            </a:br>
            <a:br>
              <a:rPr sz="3200"/>
            </a:br>
            <a:br>
              <a:rPr sz="2000"/>
            </a:br>
            <a:br>
              <a:rPr sz="3200"/>
            </a:b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6" name="Picture 3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628D09E-AD05-4D37-83F9-C696F6094F7B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F682F169-2E08-431A-81A8-EE4A48C447B8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/>
          </p:nvPr>
        </p:nvSpPr>
        <p:spPr>
          <a:xfrm>
            <a:off x="805320" y="1296360"/>
            <a:ext cx="10687680" cy="516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b0f0"/>
                </a:solidFill>
                <a:latin typeface="Arial"/>
              </a:rPr>
              <a:t>Factors that suggest need of modulation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1. Practicable Size of Antenna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Speech and music signal(20Hz – 20kHz) can only travel for a few distance.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To receive the transmitted signal, the length of antenna should be a quarter-wavelength of the frequency used.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If frequency is 20kHz, wavelength will be 15km and the height of antenna will become 3.75km which is impossible to install.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br>
              <a:rPr sz="2400"/>
            </a:br>
            <a:br>
              <a:rPr sz="2400"/>
            </a:br>
            <a:br>
              <a:rPr sz="2400"/>
            </a:br>
            <a:br>
              <a:rPr sz="2400"/>
            </a:b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8" name="Picture 4" descr=""/>
          <p:cNvPicPr/>
          <p:nvPr/>
        </p:nvPicPr>
        <p:blipFill>
          <a:blip r:embed="rId1"/>
          <a:stretch/>
        </p:blipFill>
        <p:spPr>
          <a:xfrm>
            <a:off x="9442440" y="414720"/>
            <a:ext cx="1477080" cy="203400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5" descr="SKCET LOGO.jpg"/>
          <p:cNvPicPr/>
          <p:nvPr/>
        </p:nvPicPr>
        <p:blipFill>
          <a:blip r:embed="rId2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160" name="PlaceHolder 2"/>
          <p:cNvSpPr>
            <a:spLocks noGrp="1"/>
          </p:cNvSpPr>
          <p:nvPr>
            <p:ph type="dt" idx="7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653047F-710F-4D1B-AA1E-53B93ABF12F4}" type="datetime1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03/11/2026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B552E7-DF20-4ADE-AF8D-66A26B6F94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7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FDMC - II IT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Title 1"/>
          <p:cNvSpPr/>
          <p:nvPr/>
        </p:nvSpPr>
        <p:spPr>
          <a:xfrm>
            <a:off x="1044000" y="535680"/>
            <a:ext cx="960084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Arial"/>
              </a:rPr>
              <a:t>NEED FOR MODULATION </a:t>
            </a:r>
            <a:br>
              <a:rPr sz="3200"/>
            </a:b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/>
          </p:nvPr>
        </p:nvSpPr>
        <p:spPr>
          <a:xfrm>
            <a:off x="630720" y="1132920"/>
            <a:ext cx="10687680" cy="572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When we add high frequency signal(10MHz) with our message signal, frequency becomes high(10.02MHz).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Then the wavelength will low(30m) and the height of antenna will become practicable(7.5m).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br>
              <a:rPr sz="2800"/>
            </a:br>
            <a:br>
              <a:rPr sz="2800"/>
            </a:br>
            <a:br>
              <a:rPr sz="2400"/>
            </a:br>
            <a:br>
              <a:rPr sz="2400"/>
            </a:br>
            <a:br>
              <a:rPr sz="2400"/>
            </a:b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5" name="Picture 5" descr=""/>
          <p:cNvPicPr/>
          <p:nvPr/>
        </p:nvPicPr>
        <p:blipFill>
          <a:blip r:embed="rId1"/>
          <a:stretch/>
        </p:blipFill>
        <p:spPr>
          <a:xfrm>
            <a:off x="2893320" y="3480120"/>
            <a:ext cx="6932880" cy="289296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4" descr="SKCET LOGO.jpg"/>
          <p:cNvPicPr/>
          <p:nvPr/>
        </p:nvPicPr>
        <p:blipFill>
          <a:blip r:embed="rId2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2"/>
          <p:cNvSpPr>
            <a:spLocks noGrp="1"/>
          </p:cNvSpPr>
          <p:nvPr>
            <p:ph type="dt" idx="7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25BEA246-EAAA-4FC3-AA59-ECD5CDCE7F17}" type="datetime1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03/11/2026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7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89E57A-5CA2-4647-BCE5-75B66DBC87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ftr" idx="7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FDMC - II IT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Title 1"/>
          <p:cNvSpPr/>
          <p:nvPr/>
        </p:nvSpPr>
        <p:spPr>
          <a:xfrm>
            <a:off x="1044000" y="535680"/>
            <a:ext cx="960084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Arial"/>
              </a:rPr>
              <a:t>NEED FOR MODULATION </a:t>
            </a:r>
            <a:br>
              <a:rPr sz="3200"/>
            </a:b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303200" y="508320"/>
            <a:ext cx="9600840" cy="70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</a:rPr>
              <a:t>NEED FOR MODULATION </a:t>
            </a:r>
            <a:br>
              <a:rPr sz="36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504080" y="1391400"/>
            <a:ext cx="10687680" cy="5466240"/>
          </a:xfrm>
          <a:prstGeom prst="rect">
            <a:avLst/>
          </a:prstGeom>
          <a:blipFill rotWithShape="0">
            <a:blip r:embed="rId1"/>
            <a:stretch>
              <a:fillRect l="-1199" t="-1119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3" name="Picture 3" descr="SKCET LOGO.jpg"/>
          <p:cNvPicPr/>
          <p:nvPr/>
        </p:nvPicPr>
        <p:blipFill>
          <a:blip r:embed="rId2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9B02863-A946-460B-9FFB-7B635A7576F1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64B7020-9AC6-4157-BFF4-E3E0494F5ACE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/>
          </p:nvPr>
        </p:nvSpPr>
        <p:spPr>
          <a:xfrm>
            <a:off x="972000" y="982080"/>
            <a:ext cx="10687680" cy="533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5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Narrow banding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Narrow banding does not mean that reducing the bandwidth.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Bandwidth will remain same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It means that making wavelength same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Example: We calculated the height of antenna based on wavelength.  Without modulation, each frequency will need antenna to communicate.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If we use modulation, the wavelengths of many signals will be the same(not exactly)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By using modulation, antenna size requirement becomes same.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br>
              <a:rPr sz="20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br>
              <a:rPr sz="2400"/>
            </a:br>
            <a:br>
              <a:rPr sz="3200"/>
            </a:b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5" name="Picture 3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1303200" y="508320"/>
            <a:ext cx="9600840" cy="70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</a:rPr>
              <a:t>NEED FOR MODULATION </a:t>
            </a:r>
            <a:br>
              <a:rPr sz="36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C4434B9-F9BF-4843-8516-A4E553783BDB}" type="slidenum">
              <a:t>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3538952-728D-4AF5-AD37-E1A328C1FA93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767160" y="1118520"/>
            <a:ext cx="10687680" cy="524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5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Common Processing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How if we have only one transmitter to control or use various signal transmitting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5.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Multiplexing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Multiplexing is the process of sending several signals through a common channel.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Most of the television channels use the same frequency range(bandwidth).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How multiple signals go without overlapping each other?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br>
              <a:rPr sz="2400"/>
            </a:br>
            <a:br>
              <a:rPr sz="2400"/>
            </a:br>
            <a:br>
              <a:rPr sz="3200"/>
            </a:b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8" name="Picture 3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179" name="PlaceHolder 2"/>
          <p:cNvSpPr>
            <a:spLocks noGrp="1"/>
          </p:cNvSpPr>
          <p:nvPr>
            <p:ph type="title"/>
          </p:nvPr>
        </p:nvSpPr>
        <p:spPr>
          <a:xfrm>
            <a:off x="1303200" y="508320"/>
            <a:ext cx="9600840" cy="70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</a:rPr>
              <a:t>NEED FOR MODULATION </a:t>
            </a:r>
            <a:br>
              <a:rPr sz="36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39DBDBE-0AA3-4083-AFA3-78D43DAA933C}" type="slidenum">
              <a:t>10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F7818F0C-E3BE-4363-944F-F40D3AEE989D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2" descr="Modulation Techniques ( 24 marks) - ppt download"/>
          <p:cNvPicPr/>
          <p:nvPr/>
        </p:nvPicPr>
        <p:blipFill>
          <a:blip r:embed="rId1"/>
          <a:stretch/>
        </p:blipFill>
        <p:spPr>
          <a:xfrm>
            <a:off x="1382400" y="341280"/>
            <a:ext cx="9371880" cy="612504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7" descr="SKCET LOGO.jpg"/>
          <p:cNvPicPr/>
          <p:nvPr/>
        </p:nvPicPr>
        <p:blipFill>
          <a:blip r:embed="rId2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5008956-860F-44BB-8DBC-9487D5C840D8}" type="slidenum">
              <a:t>11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59A2E9B5-8C20-4DDC-9A40-844AEAA34C64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69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500" spc="-1" strike="noStrike">
                <a:solidFill>
                  <a:schemeClr val="dk1"/>
                </a:solidFill>
                <a:latin typeface="Arial"/>
              </a:rPr>
              <a:t>DIFFERENT TYPES OF MODULATION TECHNIQUES </a:t>
            </a:r>
            <a:br>
              <a:rPr sz="3600"/>
            </a:br>
            <a:endParaRPr b="0" lang="en-US" sz="3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927000" y="1484280"/>
            <a:ext cx="10498680" cy="503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6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b0f0"/>
                </a:solidFill>
                <a:latin typeface="Arial"/>
              </a:rPr>
              <a:t>Analog and Digital modulations.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6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In analog modulation, carrier is analog signal(continuous signal)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6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Base on the instantaneous value of message signal, amplitude, frequency and phase of carrier signal will change.</a:t>
            </a: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1. Amplitude modulation(AM)</a:t>
            </a: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2. Frequency modulation(FM)</a:t>
            </a: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3. Phase modulation(PM) </a:t>
            </a:r>
            <a:br>
              <a:rPr sz="2800"/>
            </a:b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4" name="Picture 3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045376D-D6FE-43A6-8F11-4E3AEEBC7692}" type="slidenum">
              <a:t>12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2B9B20F6-FEB7-4280-990E-D771BF00373D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69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500" spc="-1" strike="noStrike">
                <a:solidFill>
                  <a:schemeClr val="dk1"/>
                </a:solidFill>
                <a:latin typeface="Arial"/>
              </a:rPr>
              <a:t>DIFFERENT TYPES OF MODULATION TECHNIQUES </a:t>
            </a:r>
            <a:br>
              <a:rPr sz="3500"/>
            </a:br>
            <a:endParaRPr b="0" lang="en-US" sz="3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036080" y="1484280"/>
            <a:ext cx="10318320" cy="476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343080" indent="-343080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In digital modulation, the carrier signal is digital signal(train of pulses)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Base on the instantaneous value of message signal, amplitude, frequency and phase of carrier signal will change.</a:t>
            </a:r>
            <a:br>
              <a:rPr sz="2800"/>
            </a:b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1. Amplitude shift keying(ASK)</a:t>
            </a:r>
            <a:br>
              <a:rPr sz="2800"/>
            </a:b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2. Frequency shift keying(FSK)</a:t>
            </a:r>
            <a:br>
              <a:rPr sz="2800"/>
            </a:b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3. Phase shift keying(PSK) </a:t>
            </a:r>
            <a:br>
              <a:rPr sz="2800"/>
            </a:b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7" name="Picture 3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B3D92AF-5803-4150-AB14-6870B5983C19}" type="slidenum">
              <a:t>13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80B9682-88A4-47F4-8DFE-A03F03AE71CF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47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Arial"/>
              </a:rPr>
              <a:t>ANALOG &amp; DIGITAL COMMUNICATIONS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9" name="Picture 2" descr="Explain the Difference Between Analog and Digital Communications -  Electronics Post"/>
          <p:cNvPicPr/>
          <p:nvPr/>
        </p:nvPicPr>
        <p:blipFill>
          <a:blip r:embed="rId1"/>
          <a:stretch/>
        </p:blipFill>
        <p:spPr>
          <a:xfrm>
            <a:off x="1937880" y="900720"/>
            <a:ext cx="7929000" cy="5335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DFD65EA-8608-41D3-A3DD-258C910CFAAF}" type="slidenum">
              <a:t>14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F750A6E-9F1B-4220-BF81-0EC751887D3D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14400" y="240336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8000" spc="-1" strike="noStrike">
                <a:solidFill>
                  <a:schemeClr val="dk1"/>
                </a:solidFill>
                <a:latin typeface="Arial"/>
              </a:rPr>
              <a:t>THANK YOU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1" name="Picture 2" descr="SKCET LOGO.jpg"/>
          <p:cNvPicPr/>
          <p:nvPr/>
        </p:nvPicPr>
        <p:blipFill>
          <a:blip r:embed="rId1"/>
          <a:stretch/>
        </p:blipFill>
        <p:spPr>
          <a:xfrm>
            <a:off x="0" y="0"/>
            <a:ext cx="1040400" cy="1040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FDMC - II IT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9D48CB-B44C-4912-BC66-832FF7EC6D9E}" type="slidenum">
              <a:t>15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3F580008-E0EE-4FCA-86F8-45C827AA53EC}" type="datetime1">
              <a:rPr lang="en-IN"/>
              <a:t>11/03/2026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2883</TotalTime>
  <Application>LibreOffice/24.2.7.2$Linux_X86_64 LibreOffice_project/420$Build-2</Application>
  <AppVersion>15.0000</AppVersion>
  <Words>587</Words>
  <Paragraphs>104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2020-12-11T22:59:17Z</dcterms:created>
  <dc:creator>Uma Maheshwari</dc:creator>
  <dc:description/>
  <dc:language>en-IN</dc:language>
  <cp:lastModifiedBy/>
  <dcterms:modified xsi:type="dcterms:W3CDTF">2026-03-11T09:52:03Z</dcterms:modified>
  <cp:revision>44</cp:revision>
  <dc:subject/>
  <dc:title>FUNDAMENTSLS OF DIGITAL AND MOBILE COMMUNICATION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</Properties>
</file>