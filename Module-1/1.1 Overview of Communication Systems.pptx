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png" ContentType="image/png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32.xml.rels" ContentType="application/vnd.openxmlformats-package.relationships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77F8DE4-60C7-49B6-9684-41594AA7E87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B113D5-CA0E-4B0D-8D05-D4E54EEF053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FA62A4-AE27-4F49-B36D-F3E3782225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7E6E5F-E2D5-4D61-8B23-335D109FFC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5415A9-BFDC-4CD4-92C7-E27AB1E64B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B47653D-C444-4F60-BC78-B540A2D818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2E50CC3-A91B-4F50-96BA-4C6764803C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EXT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7CEDD97-9EAB-45A0-B563-D494D39470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OverObj" preserve="1">
  <p:cSld name="TEXT_OVER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EX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599716B-CEDF-4827-BB40-78D7596C77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5AACBC0-11D8-4BEC-948D-F52DCC0787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8AF4B0B-84D6-4AC9-B6AF-10ED564EC6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A257FDE-9224-464C-A098-ECA9616E9A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2305D51-A63A-461D-9BF3-D9DA41A1C7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6A66145-F274-44CF-BCD5-80ADEE3936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D563C4-0DB8-4135-8A09-D46872BA5D5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10D7F2-7F42-4CF5-83A7-26070BDAEA1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0B2B0C-4E60-4C6E-A89F-B05A60A7509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976100-F175-4E43-A96A-374F5F3C239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0B4043-FDF4-4F4F-8C1D-85FBD0CA21C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12880" y="60948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65E3ED-8994-4B2F-B7BA-9D5E2EEA591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/45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53520" y="198360"/>
            <a:ext cx="1152900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283680" y="1627200"/>
            <a:ext cx="11641320" cy="24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48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283680" y="4192560"/>
            <a:ext cx="11641320" cy="24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48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12880" y="60948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21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284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97760" y="3938760"/>
            <a:ext cx="5384520" cy="21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284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CADE18-73B6-4E24-B237-9C8A3DDFD9B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/45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741A7B-1615-42E9-A74E-1145924428A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9BE1AF-D6B8-4AFD-B05B-1C9A4351DB2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AF16D2-58C9-4608-9FF1-FD7C341C909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6290DC-3C51-44F1-A10A-1A8F8B2C03D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27FEAC-C383-42FE-9807-EBBE0D141E9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24640" y="183240"/>
            <a:ext cx="9743760" cy="12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2060"/>
                </a:solidFill>
                <a:latin typeface="Arial"/>
                <a:ea typeface="Arial"/>
              </a:rPr>
              <a:t>SRI KRISHNA COLLEGE OF ENGINEERING AND TECHNOLOGY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108;p4" descr="EMB.bmp"/>
          <p:cNvPicPr/>
          <p:nvPr/>
        </p:nvPicPr>
        <p:blipFill>
          <a:blip r:embed="rId1"/>
          <a:stretch/>
        </p:blipFill>
        <p:spPr>
          <a:xfrm>
            <a:off x="405360" y="226080"/>
            <a:ext cx="990360" cy="1066320"/>
          </a:xfrm>
          <a:prstGeom prst="rect">
            <a:avLst/>
          </a:prstGeom>
          <a:ln w="0">
            <a:noFill/>
          </a:ln>
        </p:spPr>
      </p:pic>
      <p:sp>
        <p:nvSpPr>
          <p:cNvPr id="96" name="Google Shape;110;p4"/>
          <p:cNvSpPr/>
          <p:nvPr/>
        </p:nvSpPr>
        <p:spPr>
          <a:xfrm>
            <a:off x="1778760" y="2294640"/>
            <a:ext cx="863424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2060"/>
                </a:solidFill>
                <a:latin typeface="Arial"/>
                <a:ea typeface="Arial"/>
              </a:rPr>
              <a:t>23IT601 PRINCIPLES OF COMMUNICATION SYSTEMS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Google Shape;111;p4" descr="images"/>
          <p:cNvPicPr/>
          <p:nvPr/>
        </p:nvPicPr>
        <p:blipFill>
          <a:blip r:embed="rId2"/>
          <a:stretch/>
        </p:blipFill>
        <p:spPr>
          <a:xfrm>
            <a:off x="10869120" y="397440"/>
            <a:ext cx="1136880" cy="106632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6A2B04-5C8C-493B-B55B-4C2BE8CB077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1523880"/>
            <a:ext cx="1036296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MODULE-1</a:t>
            </a:r>
            <a:br>
              <a:rPr sz="3600"/>
            </a:b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Google Shape;120;p5" descr="images"/>
          <p:cNvPicPr/>
          <p:nvPr/>
        </p:nvPicPr>
        <p:blipFill>
          <a:blip r:embed="rId1"/>
          <a:stretch/>
        </p:blipFill>
        <p:spPr>
          <a:xfrm>
            <a:off x="10430640" y="691200"/>
            <a:ext cx="1083960" cy="90360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239040" y="2346120"/>
            <a:ext cx="10629720" cy="347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Introduction to Communication Systems &amp; Angle Modulation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44FD99-7A70-4721-AC92-BE1F78F1BCB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4" name="Google Shape;123;p5" descr="EMB.bmp"/>
          <p:cNvPicPr/>
          <p:nvPr/>
        </p:nvPicPr>
        <p:blipFill>
          <a:blip r:embed="rId2"/>
          <a:stretch/>
        </p:blipFill>
        <p:spPr>
          <a:xfrm>
            <a:off x="609480" y="487440"/>
            <a:ext cx="952200" cy="102528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124;p5" descr=""/>
          <p:cNvPicPr/>
          <p:nvPr/>
        </p:nvPicPr>
        <p:blipFill>
          <a:blip r:embed="rId3"/>
          <a:stretch/>
        </p:blipFill>
        <p:spPr>
          <a:xfrm>
            <a:off x="8772480" y="3838680"/>
            <a:ext cx="2199960" cy="2819160"/>
          </a:xfrm>
          <a:prstGeom prst="rect">
            <a:avLst/>
          </a:prstGeom>
          <a:ln w="0">
            <a:noFill/>
          </a:ln>
        </p:spPr>
      </p:pic>
      <p:sp>
        <p:nvSpPr>
          <p:cNvPr id="106" name="Google Shape;125;p5"/>
          <p:cNvSpPr/>
          <p:nvPr/>
        </p:nvSpPr>
        <p:spPr>
          <a:xfrm>
            <a:off x="1124640" y="183240"/>
            <a:ext cx="97437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2060"/>
                </a:solidFill>
                <a:latin typeface="Arial"/>
                <a:ea typeface="Arial"/>
              </a:rPr>
              <a:t>SRI KRISHNA COLLEGE OF ENGINEERING AND TECHNOLOGY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Communication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Communication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is the transfer of information from one place to another.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This should be done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11448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✔"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as </a:t>
            </a:r>
            <a:r>
              <a:rPr b="1" i="1" lang="en-US" sz="2400" spc="-1" strike="noStrike">
                <a:solidFill>
                  <a:srgbClr val="ff5050"/>
                </a:solidFill>
                <a:latin typeface="Arial"/>
                <a:ea typeface="Arial"/>
              </a:rPr>
              <a:t>efficiently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as possible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114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✔"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with as much </a:t>
            </a:r>
            <a:r>
              <a:rPr b="1" i="1" lang="en-US" sz="2400" spc="-1" strike="noStrike">
                <a:solidFill>
                  <a:srgbClr val="ff5050"/>
                </a:solidFill>
                <a:latin typeface="Arial"/>
                <a:ea typeface="Arial"/>
              </a:rPr>
              <a:t>fidelity/reliability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as possible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114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✔"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as </a:t>
            </a:r>
            <a:r>
              <a:rPr b="1" i="1" lang="en-US" sz="2400" spc="-1" strike="noStrike">
                <a:solidFill>
                  <a:srgbClr val="ff5050"/>
                </a:solidFill>
                <a:latin typeface="Arial"/>
                <a:ea typeface="Arial"/>
              </a:rPr>
              <a:t>securely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as possible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 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70c0"/>
                </a:solidFill>
                <a:latin typeface="Arial"/>
                <a:ea typeface="Arial"/>
              </a:rPr>
              <a:t>Communication System: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Components/subsystems act together to accomplish information transfer/exchange.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4C02DF-EAAE-4DBF-B92D-43DF0EF40CC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1" name="Google Shape;153;p6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4"/>
          <p:cNvSpPr>
            <a:spLocks noGrp="1"/>
          </p:cNvSpPr>
          <p:nvPr>
            <p:ph type="ftr" idx="4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Elements of Communication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30960" y="1563840"/>
            <a:ext cx="9789480" cy="49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202124"/>
              </a:buClr>
              <a:buFont typeface="Arial"/>
              <a:buChar char="•"/>
            </a:pPr>
            <a:r>
              <a:rPr b="0" lang="en-US" sz="23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The five basic component</a:t>
            </a:r>
            <a:r>
              <a:rPr b="0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s of electronic communications system are the transmitter, communications </a:t>
            </a:r>
            <a:r>
              <a:rPr b="1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channel</a:t>
            </a:r>
            <a:r>
              <a:rPr b="0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 or medium, </a:t>
            </a:r>
            <a:r>
              <a:rPr b="1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receiver</a:t>
            </a:r>
            <a:r>
              <a:rPr b="0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, and noise, message.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buClr>
                <a:srgbClr val="202124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Analog signals (such human </a:t>
            </a:r>
            <a:r>
              <a:rPr b="1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voice</a:t>
            </a:r>
            <a:r>
              <a:rPr b="0" lang="en-US" sz="24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) or digital signals (binary data) are inputted to the system, processed in the electronic circuits for transmission, and then decod</a:t>
            </a:r>
            <a:r>
              <a:rPr b="0" lang="en-US" sz="23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ed by the </a:t>
            </a:r>
            <a:r>
              <a:rPr b="1" lang="en-US" sz="23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receiver</a:t>
            </a:r>
            <a:r>
              <a:rPr b="0" lang="en-US" sz="2300" spc="-1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</a:rPr>
              <a:t>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174DD6-5D22-42D8-A1CE-118305D0561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6" name="Google Shape;162;gaeda619847_0_0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62120" y="38088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Blocks of Electronic Communication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AAF3D1-4522-4426-A09A-E41E784E1F3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0" name="Google Shape;170;gaeda619847_0_27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71;gaeda619847_0_27"/>
          <p:cNvSpPr/>
          <p:nvPr/>
        </p:nvSpPr>
        <p:spPr>
          <a:xfrm>
            <a:off x="1523880" y="236232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Information source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72;gaeda619847_0_27"/>
          <p:cNvSpPr/>
          <p:nvPr/>
        </p:nvSpPr>
        <p:spPr>
          <a:xfrm>
            <a:off x="3352680" y="236232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Transmitter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73;gaeda619847_0_27"/>
          <p:cNvSpPr/>
          <p:nvPr/>
        </p:nvSpPr>
        <p:spPr>
          <a:xfrm>
            <a:off x="5181480" y="236232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Channel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74;gaeda619847_0_27"/>
          <p:cNvSpPr/>
          <p:nvPr/>
        </p:nvSpPr>
        <p:spPr>
          <a:xfrm>
            <a:off x="7010280" y="236232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Receiver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75;gaeda619847_0_27"/>
          <p:cNvSpPr/>
          <p:nvPr/>
        </p:nvSpPr>
        <p:spPr>
          <a:xfrm>
            <a:off x="8839080" y="236232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Destination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76;gaeda619847_0_27"/>
          <p:cNvSpPr/>
          <p:nvPr/>
        </p:nvSpPr>
        <p:spPr>
          <a:xfrm>
            <a:off x="5181480" y="3809880"/>
            <a:ext cx="1218960" cy="990360"/>
          </a:xfrm>
          <a:prstGeom prst="rect">
            <a:avLst/>
          </a:prstGeom>
          <a:noFill/>
          <a:ln w="25400">
            <a:solidFill>
              <a:srgbClr val="3153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Noise source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7" name="Google Shape;177;gaeda619847_0_27"/>
          <p:cNvCxnSpPr>
            <a:stCxn id="121" idx="3"/>
            <a:endCxn id="122" idx="1"/>
          </p:cNvCxnSpPr>
          <p:nvPr/>
        </p:nvCxnSpPr>
        <p:spPr>
          <a:xfrm>
            <a:off x="2742840" y="2857320"/>
            <a:ext cx="610200" cy="360"/>
          </a:xfrm>
          <a:prstGeom prst="straightConnector1">
            <a:avLst/>
          </a:prstGeom>
          <a:ln w="9525">
            <a:solidFill>
              <a:srgbClr val="3e6ec2"/>
            </a:solidFill>
            <a:round/>
            <a:tailEnd len="med" type="stealth" w="med"/>
          </a:ln>
        </p:spPr>
      </p:cxnSp>
      <p:cxnSp>
        <p:nvCxnSpPr>
          <p:cNvPr id="128" name="Google Shape;178;gaeda619847_0_27"/>
          <p:cNvCxnSpPr/>
          <p:nvPr/>
        </p:nvCxnSpPr>
        <p:spPr>
          <a:xfrm>
            <a:off x="4572000" y="2895480"/>
            <a:ext cx="609840" cy="1800"/>
          </a:xfrm>
          <a:prstGeom prst="straightConnector1">
            <a:avLst/>
          </a:prstGeom>
          <a:ln w="9525">
            <a:solidFill>
              <a:srgbClr val="3e6ec2"/>
            </a:solidFill>
            <a:round/>
            <a:tailEnd len="med" type="stealth" w="med"/>
          </a:ln>
        </p:spPr>
      </p:cxnSp>
      <p:cxnSp>
        <p:nvCxnSpPr>
          <p:cNvPr id="129" name="Google Shape;179;gaeda619847_0_27"/>
          <p:cNvCxnSpPr/>
          <p:nvPr/>
        </p:nvCxnSpPr>
        <p:spPr>
          <a:xfrm>
            <a:off x="6400800" y="2895480"/>
            <a:ext cx="609840" cy="1800"/>
          </a:xfrm>
          <a:prstGeom prst="straightConnector1">
            <a:avLst/>
          </a:prstGeom>
          <a:ln w="9525">
            <a:solidFill>
              <a:srgbClr val="3e6ec2"/>
            </a:solidFill>
            <a:round/>
            <a:tailEnd len="med" type="stealth" w="med"/>
          </a:ln>
        </p:spPr>
      </p:cxnSp>
      <p:cxnSp>
        <p:nvCxnSpPr>
          <p:cNvPr id="130" name="Google Shape;180;gaeda619847_0_27"/>
          <p:cNvCxnSpPr/>
          <p:nvPr/>
        </p:nvCxnSpPr>
        <p:spPr>
          <a:xfrm>
            <a:off x="8229600" y="2819160"/>
            <a:ext cx="609840" cy="2160"/>
          </a:xfrm>
          <a:prstGeom prst="straightConnector1">
            <a:avLst/>
          </a:prstGeom>
          <a:ln w="9525">
            <a:solidFill>
              <a:srgbClr val="3e6ec2"/>
            </a:solidFill>
            <a:round/>
            <a:tailEnd len="med" type="stealth" w="med"/>
          </a:ln>
        </p:spPr>
      </p:cxnSp>
      <p:cxnSp>
        <p:nvCxnSpPr>
          <p:cNvPr id="131" name="Google Shape;181;gaeda619847_0_27"/>
          <p:cNvCxnSpPr>
            <a:stCxn id="126" idx="0"/>
            <a:endCxn id="123" idx="2"/>
          </p:cNvCxnSpPr>
          <p:nvPr/>
        </p:nvCxnSpPr>
        <p:spPr>
          <a:xfrm flipV="1">
            <a:off x="5790960" y="3352680"/>
            <a:ext cx="360" cy="457560"/>
          </a:xfrm>
          <a:prstGeom prst="straightConnector1">
            <a:avLst/>
          </a:prstGeom>
          <a:ln w="9525">
            <a:solidFill>
              <a:srgbClr val="3e6ec2"/>
            </a:solidFill>
            <a:round/>
            <a:tailEnd len="med" type="stealth" w="med"/>
          </a:ln>
        </p:spPr>
      </p:cxnSp>
      <p:sp>
        <p:nvSpPr>
          <p:cNvPr id="132" name="PlaceHolder 3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Information Source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30960" y="1563840"/>
            <a:ext cx="9789480" cy="49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690B0E-17D5-4158-B17D-A59853957EC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6" name="Google Shape;190;p7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191;p7"/>
          <p:cNvSpPr/>
          <p:nvPr/>
        </p:nvSpPr>
        <p:spPr>
          <a:xfrm>
            <a:off x="838080" y="1752480"/>
            <a:ext cx="105915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Information Source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Audio, image, text, data.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Input Transducer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Converts source to electric signal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8088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Microphone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8088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Camera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8088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Keyboard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Output Transducer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Converts electric signal to usable form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1371600" indent="-38088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Speaker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1371600" indent="-38088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Monitor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ftr" idx="5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" dur="indefinite" restart="never" nodeType="tmRoot">
          <p:childTnLst>
            <p:seq>
              <p:cTn id="29" dur="indefinite" nodeType="mainSeq"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Transmitter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30960" y="1563840"/>
            <a:ext cx="9789480" cy="49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5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C54591-28F9-4A96-B133-DC51D1ADB72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2" name="Google Shape;200;p8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43" name="Google Shape;201;p8"/>
          <p:cNvSpPr/>
          <p:nvPr/>
        </p:nvSpPr>
        <p:spPr>
          <a:xfrm>
            <a:off x="838080" y="1752480"/>
            <a:ext cx="10591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Transmitter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Converts electrical signal into form suitable for channel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Modulator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Amplifier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Filtering and encoding (if necessary)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" dur="indefinite" restart="never" nodeType="tmRoot">
          <p:childTnLst>
            <p:seq>
              <p:cTn id="57" dur="indefinite" nodeType="mainSeq"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Channel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80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Medium used to transfer signal from transmitter to receiver. Point to point or Broadcast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Wire lines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Fiber optic cable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Atmosphere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Often adds noise / weakens &amp; distorts signal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BDAFBC-E9FF-4563-9F66-74C18E74F34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8" name="Google Shape;210;p9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49" name="PlaceHolder 4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90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Receiver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930960" y="1563840"/>
            <a:ext cx="9789480" cy="49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763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88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547D7-682F-4B47-AC30-B51458E453A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3" name="Google Shape;219;p10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54" name="Google Shape;220;p10"/>
          <p:cNvSpPr/>
          <p:nvPr/>
        </p:nvSpPr>
        <p:spPr>
          <a:xfrm>
            <a:off x="762120" y="1295280"/>
            <a:ext cx="10591560" cy="46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Extracts an estimate of the original transducer output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Demodulator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Filtering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Amplifier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00000"/>
                </a:solidFill>
                <a:latin typeface="Arial"/>
                <a:ea typeface="Arial"/>
              </a:rPr>
              <a:t>Transceivers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transceiver</a:t>
            </a:r>
            <a:r>
              <a:rPr b="0" lang="en-US" sz="2400" spc="-1" strike="noStrike">
                <a:solidFill>
                  <a:srgbClr val="9a2a4a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is an electronic unit that incorporates circuits that both send and receive signals.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Examples are: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Telephones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Fax machines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Handheld CB radios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Cell phones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130ca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Com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puter modems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5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1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Noise source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c00000"/>
                </a:solidFill>
                <a:latin typeface="Arial"/>
                <a:ea typeface="Arial"/>
              </a:rPr>
              <a:t>Attenuation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Signal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attenuation,</a:t>
            </a:r>
            <a:r>
              <a:rPr b="0" lang="en-US" sz="2400" spc="-1" strike="noStrike">
                <a:solidFill>
                  <a:srgbClr val="9a2a4a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or degradation, exists in all media of wireless transmission. It is proportional to the square of the distance between the transmitter and receiver.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c00000"/>
                </a:solidFill>
                <a:latin typeface="Arial"/>
                <a:ea typeface="Arial"/>
              </a:rPr>
              <a:t>Noise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Noise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is random, undesirable electronic energy that enters the communication system via the communicating medium and interferes with the transmitted message.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228600" algn="just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41024A-FB0A-4F8A-84EA-32C2F697DAD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10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9" name="Google Shape;229;p11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60" name="PlaceHolder 4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Arial"/>
                <a:ea typeface="Arial"/>
              </a:rPr>
              <a:t>Types of Electronic Communication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080" indent="-552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Electronic communications are classified according to whether they are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1104480" indent="-514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Noto Sans Symbols"/>
              <a:buAutoNum type="arabicPeriod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One-way (simplex) or two-way (full duplex or half duplex) transmissions - </a:t>
            </a:r>
            <a:r>
              <a:rPr b="1" lang="en-US" sz="2400" spc="-1" strike="noStrike" u="sng">
                <a:solidFill>
                  <a:srgbClr val="c80000"/>
                </a:solidFill>
                <a:uFillTx/>
                <a:latin typeface="Arial"/>
                <a:ea typeface="Arial"/>
              </a:rPr>
              <a:t>point to point channels</a:t>
            </a: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. </a:t>
            </a:r>
            <a:r>
              <a:rPr b="0" lang="en-US" sz="2400" spc="-1" strike="noStrike">
                <a:solidFill>
                  <a:srgbClr val="000099"/>
                </a:solidFill>
                <a:latin typeface="Arial"/>
                <a:ea typeface="Arial"/>
              </a:rPr>
              <a:t>Broadcasts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messages to all connected receivers –</a:t>
            </a:r>
            <a:r>
              <a:rPr b="0" lang="en-US" sz="2400" spc="-1" strike="noStrike">
                <a:solidFill>
                  <a:srgbClr val="000099"/>
                </a:solidFill>
                <a:latin typeface="Arial"/>
                <a:ea typeface="Arial"/>
              </a:rPr>
              <a:t> </a:t>
            </a:r>
            <a:r>
              <a:rPr b="1" lang="en-US" sz="2400" spc="-1" strike="noStrike" u="sng">
                <a:solidFill>
                  <a:srgbClr val="c80000"/>
                </a:solidFill>
                <a:uFillTx/>
                <a:latin typeface="Arial"/>
                <a:ea typeface="Arial"/>
              </a:rPr>
              <a:t>Multipoint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1104480" indent="-514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Noto Sans Symbols"/>
              <a:buAutoNum type="arabicPeriod"/>
            </a:pPr>
            <a:r>
              <a:rPr b="0" lang="en-US" sz="2400" spc="-1" strike="noStrike">
                <a:solidFill>
                  <a:srgbClr val="130ca0"/>
                </a:solidFill>
                <a:latin typeface="Arial"/>
                <a:ea typeface="Arial"/>
              </a:rPr>
              <a:t>Analog or digital signals.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514080" indent="-3999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Google Shape;237;p12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64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5F5083-D0E3-4787-A162-8D2577AF3AF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11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Simplex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simplest method of electronic communication is referred to as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simplex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This type of communication is one-way. Examples are: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Radio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TV broadcasting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Beeper (personal receiver)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oogle Shape;246;p13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4C0D29-6A77-49B2-ABD2-283DE70A27F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12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ftr" idx="6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Half Duplex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form of two-way communication in which only one party transmits at a time is known as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half duplex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. Examples are: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Police, military, etc. radio transmissions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Citizen band (CB)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Family radio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Amateur radio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Google Shape;255;p14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74" name="PlaceHolder 3"/>
          <p:cNvSpPr>
            <a:spLocks noGrp="1"/>
          </p:cNvSpPr>
          <p:nvPr>
            <p:ph type="sldNum" idx="6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DF96FD-41B6-48AE-9166-BB2674B4DF0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Full Duplex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Most electronic communication is two-way and is referred to as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duplex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When people can talk and listen simultaneously, it is called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full duplex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. The telephone is an example of this type of communication.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Google Shape;264;p15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79" name="PlaceHolder 3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8BB32F-F1DB-4672-B04C-E861A6BB638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14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Types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272;p16" descr="C:\My Documents\Final Ch. 1-6\03.03.jpg"/>
          <p:cNvPicPr/>
          <p:nvPr/>
        </p:nvPicPr>
        <p:blipFill>
          <a:blip r:embed="rId1"/>
          <a:stretch/>
        </p:blipFill>
        <p:spPr>
          <a:xfrm>
            <a:off x="2514600" y="1371600"/>
            <a:ext cx="6857640" cy="4324680"/>
          </a:xfrm>
          <a:prstGeom prst="rect">
            <a:avLst/>
          </a:prstGeom>
          <a:ln w="0">
            <a:noFill/>
          </a:ln>
        </p:spPr>
      </p:pic>
      <p:pic>
        <p:nvPicPr>
          <p:cNvPr id="183" name="Google Shape;273;p16" descr="images"/>
          <p:cNvPicPr/>
          <p:nvPr/>
        </p:nvPicPr>
        <p:blipFill>
          <a:blip r:embed="rId2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84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E968AC-963F-48FD-AD34-A0498E56B44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15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6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Analog Signals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An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analog signal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is a smoothly and continuously varying voltage or current. Examples are: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Sine wave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Voice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Video (TV)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oogle Shape;282;p17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3"/>
          <p:cNvSpPr>
            <a:spLocks noGrp="1"/>
          </p:cNvSpPr>
          <p:nvPr>
            <p:ph type="sldNum" idx="7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FD8A29-5977-4B8F-9F47-33AD3B5C4BB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Analog signals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90;p18"/>
          <p:cNvSpPr/>
          <p:nvPr/>
        </p:nvSpPr>
        <p:spPr>
          <a:xfrm>
            <a:off x="2895480" y="5943600"/>
            <a:ext cx="6570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Figure : Analog signals (a) Sine wave “tone.” (b) Voice. (c) Video (TV) signal.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Google Shape;291;p18" descr="fre07042_0105"/>
          <p:cNvPicPr/>
          <p:nvPr/>
        </p:nvPicPr>
        <p:blipFill>
          <a:blip r:embed="rId1"/>
          <a:stretch/>
        </p:blipFill>
        <p:spPr>
          <a:xfrm>
            <a:off x="541800" y="3276720"/>
            <a:ext cx="11649600" cy="2426760"/>
          </a:xfrm>
          <a:prstGeom prst="rect">
            <a:avLst/>
          </a:prstGeom>
          <a:ln w="0">
            <a:noFill/>
          </a:ln>
        </p:spPr>
      </p:pic>
      <p:pic>
        <p:nvPicPr>
          <p:cNvPr id="194" name="Google Shape;292;p18" descr="images"/>
          <p:cNvPicPr/>
          <p:nvPr/>
        </p:nvPicPr>
        <p:blipFill>
          <a:blip r:embed="rId2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195" name="PlaceHolder 2"/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315AAB-A274-46DC-B57A-F2DAB6C8704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17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Digital Signals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Digital signals change in steps or in discrete increments.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Most digital signals use binary or two-state codes. Examples are: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Telegraph (Morse code)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Continuous wave (CW) code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Serial binary code (used in computers)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Google Shape;301;p37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00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AFE04C-852E-4E21-95A4-E20E4436E97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18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ftr" idx="7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Digital Signals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309;p38"/>
          <p:cNvSpPr/>
          <p:nvPr/>
        </p:nvSpPr>
        <p:spPr>
          <a:xfrm>
            <a:off x="304920" y="5867280"/>
            <a:ext cx="11603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Figure : Digital signals (a) Telegraph (Morse code). (b) Continuous-wave (CW) code. (c) Serial binary code.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Google Shape;310;p38" descr="fre07042_0106"/>
          <p:cNvPicPr/>
          <p:nvPr/>
        </p:nvPicPr>
        <p:blipFill>
          <a:blip r:embed="rId1"/>
          <a:stretch/>
        </p:blipFill>
        <p:spPr>
          <a:xfrm>
            <a:off x="914400" y="2133720"/>
            <a:ext cx="10576800" cy="3352320"/>
          </a:xfrm>
          <a:prstGeom prst="rect">
            <a:avLst/>
          </a:prstGeom>
          <a:ln w="0">
            <a:noFill/>
          </a:ln>
        </p:spPr>
      </p:pic>
      <p:pic>
        <p:nvPicPr>
          <p:cNvPr id="205" name="Google Shape;311;p38" descr="images"/>
          <p:cNvPicPr/>
          <p:nvPr/>
        </p:nvPicPr>
        <p:blipFill>
          <a:blip r:embed="rId2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06" name="PlaceHolder 2"/>
          <p:cNvSpPr>
            <a:spLocks noGrp="1"/>
          </p:cNvSpPr>
          <p:nvPr>
            <p:ph type="sldNum" idx="7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ECD952-BF62-4F1E-B015-2F6BDCB57E7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Digital Signals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9144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Many transmissions are of signals that originate in digital form but must be converted to analog form to match the transmission medium.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Digital data over the telephone network.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Analog signals.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300" spc="-1" strike="noStrike">
                <a:solidFill>
                  <a:schemeClr val="dk1"/>
                </a:solidFill>
                <a:latin typeface="Calibri"/>
                <a:ea typeface="Calibri"/>
              </a:rPr>
              <a:t>They are first digitized with an analog-to-digital (A/D) converter.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300" spc="-1" strike="noStrike">
                <a:solidFill>
                  <a:schemeClr val="dk1"/>
                </a:solidFill>
                <a:latin typeface="Calibri"/>
                <a:ea typeface="Calibri"/>
              </a:rPr>
              <a:t>The data can then be transmitted and processed by computers and other digital circuits.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Google Shape;320;p39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11" name="PlaceHolder 3"/>
          <p:cNvSpPr>
            <a:spLocks noGrp="1"/>
          </p:cNvSpPr>
          <p:nvPr>
            <p:ph type="sldNum" idx="7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5A99EB-54BA-49DE-B4CD-A406DB6D9FB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20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The Electromagnetic Spectrum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8088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range of electromagnetic signals encompassing all frequencies is referred to as the 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electromagnetic spectrum.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Google Shape;329;p40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16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BEE787-3EDE-4842-AB0A-DED74ED1E91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21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8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8" name="Google Shape;332;p40" descr="fre07042_0113"/>
          <p:cNvPicPr/>
          <p:nvPr/>
        </p:nvPicPr>
        <p:blipFill>
          <a:blip r:embed="rId2"/>
          <a:stretch/>
        </p:blipFill>
        <p:spPr>
          <a:xfrm>
            <a:off x="2166120" y="2787840"/>
            <a:ext cx="8346600" cy="3069000"/>
          </a:xfrm>
          <a:prstGeom prst="rect">
            <a:avLst/>
          </a:prstGeom>
          <a:ln w="0">
            <a:noFill/>
          </a:ln>
        </p:spPr>
      </p:pic>
      <p:sp>
        <p:nvSpPr>
          <p:cNvPr id="219" name="Google Shape;333;p40"/>
          <p:cNvSpPr/>
          <p:nvPr/>
        </p:nvSpPr>
        <p:spPr>
          <a:xfrm>
            <a:off x="4259520" y="5952960"/>
            <a:ext cx="329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Figure : The electromagnetic spectrum.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2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21" name="Google Shape;339;p42" descr=""/>
          <p:cNvPicPr/>
          <p:nvPr/>
        </p:nvPicPr>
        <p:blipFill>
          <a:blip r:embed="rId1"/>
          <a:stretch/>
        </p:blipFill>
        <p:spPr>
          <a:xfrm>
            <a:off x="609480" y="1447920"/>
            <a:ext cx="11030040" cy="4114440"/>
          </a:xfrm>
          <a:prstGeom prst="rect">
            <a:avLst/>
          </a:prstGeom>
          <a:ln w="0">
            <a:noFill/>
          </a:ln>
        </p:spPr>
      </p:pic>
      <p:pic>
        <p:nvPicPr>
          <p:cNvPr id="222" name="Google Shape;340;p42" descr="images"/>
          <p:cNvPicPr/>
          <p:nvPr/>
        </p:nvPicPr>
        <p:blipFill>
          <a:blip r:embed="rId2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2"/>
          <p:cNvSpPr>
            <a:spLocks noGrp="1"/>
          </p:cNvSpPr>
          <p:nvPr>
            <p:ph type="sldNum" idx="8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049EF8-C015-42F6-831C-B0F122B2125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22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Frequency and Wavelength: Frequency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 signal is located on the frequency spectrum according to its frequency and wavelength.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Frequency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is the number of cycles of a repetitive wave that occur in a given period of time.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 cycle consists of two voltage polarity reversals, current reversals, or electromagnetic field oscillations.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Frequency is measured in cycles per second (cps).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unit of frequency is the hertz (Hz).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Google Shape;349;p43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28" name="PlaceHolder 3"/>
          <p:cNvSpPr>
            <a:spLocks noGrp="1"/>
          </p:cNvSpPr>
          <p:nvPr>
            <p:ph type="sldNum" idx="8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46BA3C-8E48-4C7A-822C-9AF307B5936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23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Frequency and Wavelength: Wavelength 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Wavelength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is the distance occupied by one cycle of a wave and is usually expressed in meters.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Wavelength is also the distance traveled by an electromagnetic wave during the time of one cycle.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wavelength of a signal is represented by the Greek letter lambda (λ).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Google Shape;358;p44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33" name="PlaceHolder 3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B30577-0D6F-4ACE-A974-E4F5F67E0C5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24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ftr" idx="8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80000"/>
                </a:solidFill>
                <a:latin typeface="Arial"/>
                <a:ea typeface="Arial"/>
              </a:rPr>
              <a:t>Frequency and Wavelength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366;p45"/>
          <p:cNvSpPr/>
          <p:nvPr/>
        </p:nvSpPr>
        <p:spPr>
          <a:xfrm>
            <a:off x="3200400" y="5463720"/>
            <a:ext cx="5961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Figure : Frequency and wavelength. (a) One cycle. (b) One wavelength.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Google Shape;367;p45" descr="fre07042_0115"/>
          <p:cNvPicPr/>
          <p:nvPr/>
        </p:nvPicPr>
        <p:blipFill>
          <a:blip r:embed="rId1"/>
          <a:stretch/>
        </p:blipFill>
        <p:spPr>
          <a:xfrm>
            <a:off x="406440" y="2743200"/>
            <a:ext cx="11480400" cy="2553840"/>
          </a:xfrm>
          <a:prstGeom prst="rect">
            <a:avLst/>
          </a:prstGeom>
          <a:ln w="0">
            <a:noFill/>
          </a:ln>
        </p:spPr>
      </p:pic>
      <p:pic>
        <p:nvPicPr>
          <p:cNvPr id="238" name="Google Shape;368;p45" descr="images"/>
          <p:cNvPicPr/>
          <p:nvPr/>
        </p:nvPicPr>
        <p:blipFill>
          <a:blip r:embed="rId2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2"/>
          <p:cNvSpPr>
            <a:spLocks noGrp="1"/>
          </p:cNvSpPr>
          <p:nvPr>
            <p:ph type="sldNum" idx="8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994F26-0230-4D50-B786-D30EFFD061E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ftr" idx="8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/>
          </p:nvPr>
        </p:nvSpPr>
        <p:spPr>
          <a:xfrm>
            <a:off x="304920" y="1172160"/>
            <a:ext cx="11641320" cy="119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Frequency Ranges from 30 Hz to 300 GHz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electromagnetic spectrum is divided into segments: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2" name="Google Shape;376;p46"/>
          <p:cNvGraphicFramePr/>
          <p:nvPr/>
        </p:nvGraphicFramePr>
        <p:xfrm>
          <a:off x="275040" y="2214000"/>
          <a:ext cx="11641320" cy="3599640"/>
        </p:xfrm>
        <a:graphic>
          <a:graphicData uri="http://schemas.openxmlformats.org/drawingml/2006/table">
            <a:tbl>
              <a:tblPr/>
              <a:tblGrid>
                <a:gridCol w="5820480"/>
                <a:gridCol w="5820480"/>
              </a:tblGrid>
              <a:tr h="41112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Extremely Low Frequencies (ELF)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30–300 Hz.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904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Voice Frequencies (VF)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300–3000 Hz.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5120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Very Low Frequencies (VLF)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include the higher end of the human hearing range up to about 20 kHz.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040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Low Frequencies (LF)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30–300 kHz.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Medium Frequencies (MF)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300–3000 kHz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777960">
                        <a:lnSpc>
                          <a:spcPct val="100000"/>
                        </a:lnSpc>
                        <a:spcBef>
                          <a:spcPts val="42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AM radio 535–1605 kHz.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43" name="Google Shape;377;p46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44" name="TextBox 5"/>
          <p:cNvSpPr/>
          <p:nvPr/>
        </p:nvSpPr>
        <p:spPr>
          <a:xfrm>
            <a:off x="2770200" y="6428880"/>
            <a:ext cx="609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Calibri"/>
                <a:ea typeface="Arial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173880" y="1015200"/>
            <a:ext cx="1164132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Frequency Ranges from 30 Hz to 300 GHz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6" name="Google Shape;383;p47"/>
          <p:cNvGraphicFramePr/>
          <p:nvPr/>
        </p:nvGraphicFramePr>
        <p:xfrm>
          <a:off x="275040" y="1674000"/>
          <a:ext cx="11641320" cy="3946680"/>
        </p:xfrm>
        <a:graphic>
          <a:graphicData uri="http://schemas.openxmlformats.org/drawingml/2006/table">
            <a:tbl>
              <a:tblPr/>
              <a:tblGrid>
                <a:gridCol w="5820480"/>
                <a:gridCol w="5820480"/>
              </a:tblGrid>
              <a:tr h="162756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High Frequencies (HF)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(short waves; VOA, BBC broadcasts; government and military two-way communication; amateur radio, CB.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3–30 MHz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832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Very High Frequencies (VHF)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FM radio broadcasting (88–108 MHz), television channels 2–13.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30–300 MHz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832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Ultra High Frequencies (UHF)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TV channels 14–67, cellular phones, military communication.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300–3000 MHz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47" name="Google Shape;384;p47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48" name="TextBox 6"/>
          <p:cNvSpPr/>
          <p:nvPr/>
        </p:nvSpPr>
        <p:spPr>
          <a:xfrm>
            <a:off x="2770200" y="6428880"/>
            <a:ext cx="609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Calibri"/>
                <a:ea typeface="Arial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/>
          </p:nvPr>
        </p:nvSpPr>
        <p:spPr>
          <a:xfrm>
            <a:off x="283680" y="1627200"/>
            <a:ext cx="11641320" cy="5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0644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Frequency Ranges from 30 Hz to 300 GHz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0" name="Google Shape;390;p48"/>
          <p:cNvGraphicFramePr/>
          <p:nvPr/>
        </p:nvGraphicFramePr>
        <p:xfrm>
          <a:off x="304920" y="2362320"/>
          <a:ext cx="11641320" cy="2703960"/>
        </p:xfrm>
        <a:graphic>
          <a:graphicData uri="http://schemas.openxmlformats.org/drawingml/2006/table">
            <a:tbl>
              <a:tblPr/>
              <a:tblGrid>
                <a:gridCol w="5820480"/>
                <a:gridCol w="5820480"/>
              </a:tblGrid>
              <a:tr h="154440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Microwaves and Super High Frequencies (SHF)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Satellite communication, radar, wireless LANs, microwave ovens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1–30 GHz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8320">
                <a:tc>
                  <a:txBody>
                    <a:bodyPr lIns="121680" rIns="1216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Extremely High Frequencies (EHF)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85920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Satellite communication, computer data, radar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pPr marL="385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30–300 GHz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1" name="Google Shape;391;p48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52" name="TextBox 4"/>
          <p:cNvSpPr/>
          <p:nvPr/>
        </p:nvSpPr>
        <p:spPr>
          <a:xfrm>
            <a:off x="2770200" y="6428880"/>
            <a:ext cx="609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Calibri"/>
                <a:ea typeface="Arial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Bandwidth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80880" algn="just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Bandwidth (BW)</a:t>
            </a: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is that portion of the electromagnetic spectrum occupied by a signal.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indent="-228600" algn="just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 algn="just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Channel bandwidth</a:t>
            </a: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refers to the range of frequencies required to transmit the desired information.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Google Shape;434;p53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56" name="PlaceHolder 3"/>
          <p:cNvSpPr>
            <a:spLocks noGrp="1"/>
          </p:cNvSpPr>
          <p:nvPr>
            <p:ph type="sldNum" idx="9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927117-EEF8-42B9-B82E-A0901FEFCBE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30ca0"/>
                </a:solidFill>
                <a:latin typeface="Arial"/>
                <a:ea typeface="Arial"/>
              </a:rPr>
              <a:t>Bandwidth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Spectrum Management and Standards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Spectrum management</a:t>
            </a:r>
            <a:r>
              <a:rPr b="0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is provided by agencies set up by the United States and other countries to control spectrum use.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Federal Communications Commission (FCC) and the National Telecommunications and Information Administration (NTIA)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are two agencies that deal in spectrum management.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rgbClr val="c80000"/>
                </a:solidFill>
                <a:latin typeface="Arial"/>
                <a:ea typeface="Arial"/>
              </a:rPr>
              <a:t>Standards</a:t>
            </a: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are specifications and guidelines necessary to ensure compatibility between transmitting and receiving equipment.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Google Shape;443;p54" descr="images"/>
          <p:cNvPicPr/>
          <p:nvPr/>
        </p:nvPicPr>
        <p:blipFill>
          <a:blip r:embed="rId1"/>
          <a:stretch/>
        </p:blipFill>
        <p:spPr>
          <a:xfrm>
            <a:off x="10972800" y="48744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61" name="PlaceHolder 3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6E3F5A-AE18-4199-B710-8191AE9DDE5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ftr" idx="9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Assessment Questions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838080" y="14018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Question #1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The EM wave has a Frequency of 5 kHz. Calculate the wavelength.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Question #2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How to interpret frequency in an analog clock?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Question #3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What are the common noise signals realized during lab experiments?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9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1BA335-B682-4823-93C7-C1004186E4A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6" name="Google Shape;453;p19" descr="images"/>
          <p:cNvPicPr/>
          <p:nvPr/>
        </p:nvPicPr>
        <p:blipFill>
          <a:blip r:embed="rId1"/>
          <a:stretch/>
        </p:blipFill>
        <p:spPr>
          <a:xfrm>
            <a:off x="10553760" y="576000"/>
            <a:ext cx="952200" cy="903600"/>
          </a:xfrm>
          <a:prstGeom prst="rect">
            <a:avLst/>
          </a:prstGeom>
          <a:ln w="0">
            <a:noFill/>
          </a:ln>
        </p:spPr>
      </p:pic>
      <p:sp>
        <p:nvSpPr>
          <p:cNvPr id="267" name="PlaceHolder 4"/>
          <p:cNvSpPr>
            <a:spLocks noGrp="1"/>
          </p:cNvSpPr>
          <p:nvPr>
            <p:ph type="ftr" idx="9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"/>
              </a:rPr>
              <a:t>Solution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#1 f = c/λ,  wavelength λ = 3 x10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8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/ 5 x 10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3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 = 60 km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Implication, a 5 kHz signal has a wavelength of 60 km.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(Very long distance)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#2 In Analog clocks, the second hand make 3600 rotation in one minute. The frequency of second hand is 360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0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/60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0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= 60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0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. It is the distance traveled in per second.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#3 Interference from power supply is the common noise in lab experiments.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9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2C3E3-5638-46F9-B517-5CBED6A78C1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2722320" y="6413760"/>
            <a:ext cx="609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Calibri"/>
                <a:ea typeface="Arial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479;p22" descr="Thank You Letter Danger: 5 Things You Should Never Include!"/>
          <p:cNvPicPr/>
          <p:nvPr/>
        </p:nvPicPr>
        <p:blipFill>
          <a:blip r:embed="rId1"/>
          <a:stretch/>
        </p:blipFill>
        <p:spPr>
          <a:xfrm>
            <a:off x="2160360" y="1020240"/>
            <a:ext cx="7394400" cy="4920480"/>
          </a:xfrm>
          <a:prstGeom prst="rect">
            <a:avLst/>
          </a:prstGeom>
          <a:ln w="0">
            <a:noFill/>
          </a:ln>
        </p:spPr>
      </p:pic>
      <p:sp>
        <p:nvSpPr>
          <p:cNvPr id="273" name="PlaceHolder 1"/>
          <p:cNvSpPr>
            <a:spLocks noGrp="1"/>
          </p:cNvSpPr>
          <p:nvPr>
            <p:ph type="sldNum" idx="9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F32C5F-A689-4C20-ABAF-05AA4B0D4CD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ftr" idx="9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888888"/>
                </a:solidFill>
                <a:latin typeface="Calibri"/>
                <a:ea typeface="Calibri"/>
              </a:rPr>
              <a:t>20EC403 - Analog and Digital Communication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LibreOffice/24.2.7.2$Linux_X86_64 LibreOffice_project/420$Build-2</Application>
  <AppVersion>15.0000</AppVersion>
  <Words>1485</Words>
  <Paragraphs>258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2020-05-12T10:18:25Z</dcterms:created>
  <dc:creator>Karthikeyan</dc:creator>
  <dc:description/>
  <dc:language>en-IN</dc:language>
  <cp:lastModifiedBy/>
  <dcterms:modified xsi:type="dcterms:W3CDTF">2026-03-11T09:47:10Z</dcterms:modified>
  <cp:revision>10</cp:revision>
  <dc:subject/>
  <dc:title>SRI KRISHNA COLLEGE OF ENGINEERING AND TECHNOLOGY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Widescreen</vt:lpwstr>
  </property>
  <property fmtid="{D5CDD505-2E9C-101B-9397-08002B2CF9AE}" pid="4" name="Slides">
    <vt:i4>33</vt:i4>
  </property>
</Properties>
</file>