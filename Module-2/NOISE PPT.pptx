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8" r:id="rId2"/>
    <p:sldId id="279" r:id="rId3"/>
    <p:sldId id="280" r:id="rId4"/>
    <p:sldId id="281" r:id="rId5"/>
    <p:sldId id="282" r:id="rId6"/>
    <p:sldId id="285" r:id="rId7"/>
    <p:sldId id="283" r:id="rId8"/>
    <p:sldId id="288" r:id="rId9"/>
    <p:sldId id="289" r:id="rId10"/>
    <p:sldId id="286" r:id="rId11"/>
    <p:sldId id="287" r:id="rId12"/>
    <p:sldId id="264" r:id="rId13"/>
    <p:sldId id="265" r:id="rId14"/>
    <p:sldId id="256" r:id="rId15"/>
    <p:sldId id="258" r:id="rId16"/>
    <p:sldId id="266" r:id="rId17"/>
    <p:sldId id="259" r:id="rId18"/>
    <p:sldId id="262" r:id="rId19"/>
    <p:sldId id="263" r:id="rId20"/>
    <p:sldId id="267" r:id="rId21"/>
    <p:sldId id="268" r:id="rId22"/>
    <p:sldId id="273" r:id="rId23"/>
    <p:sldId id="269" r:id="rId24"/>
    <p:sldId id="270" r:id="rId25"/>
    <p:sldId id="271" r:id="rId26"/>
    <p:sldId id="277" r:id="rId27"/>
    <p:sldId id="274" r:id="rId28"/>
    <p:sldId id="276" r:id="rId29"/>
    <p:sldId id="275" r:id="rId30"/>
    <p:sldId id="27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1666" y="1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24689-AD30-C71F-D532-DA103C19B95B}"/>
              </a:ext>
            </a:extLst>
          </p:cNvPr>
          <p:cNvSpPr>
            <a:spLocks noGrp="1"/>
          </p:cNvSpPr>
          <p:nvPr>
            <p:ph type="ctrTitle"/>
          </p:nvPr>
        </p:nvSpPr>
        <p:spPr/>
        <p:txBody>
          <a:bodyPr/>
          <a:lstStyle/>
          <a:p>
            <a:r>
              <a:rPr lang="en-US" dirty="0"/>
              <a:t>MODULE II </a:t>
            </a:r>
            <a:br>
              <a:rPr lang="en-US" dirty="0"/>
            </a:br>
            <a:r>
              <a:rPr lang="en-US" dirty="0"/>
              <a:t>NOISE</a:t>
            </a:r>
            <a:endParaRPr lang="en-IN" dirty="0"/>
          </a:p>
        </p:txBody>
      </p:sp>
      <p:sp>
        <p:nvSpPr>
          <p:cNvPr id="3" name="Subtitle 2">
            <a:extLst>
              <a:ext uri="{FF2B5EF4-FFF2-40B4-BE49-F238E27FC236}">
                <a16:creationId xmlns:a16="http://schemas.microsoft.com/office/drawing/2014/main" id="{D972F4DC-2D17-84B9-191E-8974B326B6D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094280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EE324-07E3-F2C2-D956-9197E597B8EA}"/>
              </a:ext>
            </a:extLst>
          </p:cNvPr>
          <p:cNvSpPr>
            <a:spLocks noGrp="1"/>
          </p:cNvSpPr>
          <p:nvPr>
            <p:ph type="title"/>
          </p:nvPr>
        </p:nvSpPr>
        <p:spPr/>
        <p:txBody>
          <a:bodyPr/>
          <a:lstStyle/>
          <a:p>
            <a:r>
              <a:rPr lang="en-US" dirty="0"/>
              <a:t>NOISE- DEFINITION</a:t>
            </a:r>
            <a:endParaRPr lang="en-IN" dirty="0"/>
          </a:p>
        </p:txBody>
      </p:sp>
      <p:sp>
        <p:nvSpPr>
          <p:cNvPr id="3" name="Content Placeholder 2">
            <a:extLst>
              <a:ext uri="{FF2B5EF4-FFF2-40B4-BE49-F238E27FC236}">
                <a16:creationId xmlns:a16="http://schemas.microsoft.com/office/drawing/2014/main" id="{9D9C9DFC-ABBA-FE33-C7E5-F9616E5A2153}"/>
              </a:ext>
            </a:extLst>
          </p:cNvPr>
          <p:cNvSpPr>
            <a:spLocks noGrp="1"/>
          </p:cNvSpPr>
          <p:nvPr>
            <p:ph idx="1"/>
          </p:nvPr>
        </p:nvSpPr>
        <p:spPr/>
        <p:txBody>
          <a:bodyPr>
            <a:normAutofit fontScale="77500" lnSpcReduction="20000"/>
          </a:bodyPr>
          <a:lstStyle/>
          <a:p>
            <a:r>
              <a:rPr lang="en-US" dirty="0"/>
              <a:t>In electrical terms, noise may be defined as an unwanted form of energy which tends to interfere with the proper reception and reproduction of transmitted signals.</a:t>
            </a:r>
          </a:p>
          <a:p>
            <a:r>
              <a:rPr lang="en-US" dirty="0"/>
              <a:t> For example, in receivers several electrical disturbances produce noise and thus modify the required signal in an unwanted form. In case of radio receivers, noise may produce this type of sound in the output of loudspeaker.</a:t>
            </a:r>
          </a:p>
          <a:p>
            <a:r>
              <a:rPr lang="en-US" dirty="0"/>
              <a:t> Similarly, in TV receivers, noise may produce 'snow' which becomes superimposed on the picture output. </a:t>
            </a:r>
          </a:p>
          <a:p>
            <a:r>
              <a:rPr lang="en-US" dirty="0"/>
              <a:t>In addition to this, in pulse communications, noise may produce unwanted pulses or cancel the required pulses. In other words, we can say that noise may limit the performance of a communication system.</a:t>
            </a:r>
            <a:endParaRPr lang="en-IN" dirty="0"/>
          </a:p>
          <a:p>
            <a:endParaRPr lang="en-IN" dirty="0"/>
          </a:p>
        </p:txBody>
      </p:sp>
    </p:spTree>
    <p:extLst>
      <p:ext uri="{BB962C8B-B14F-4D97-AF65-F5344CB8AC3E}">
        <p14:creationId xmlns:p14="http://schemas.microsoft.com/office/powerpoint/2010/main" val="4265483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45517-2E60-CC67-9D2E-43FED8E6D14B}"/>
              </a:ext>
            </a:extLst>
          </p:cNvPr>
          <p:cNvSpPr>
            <a:spLocks noGrp="1"/>
          </p:cNvSpPr>
          <p:nvPr>
            <p:ph type="title"/>
          </p:nvPr>
        </p:nvSpPr>
        <p:spPr/>
        <p:txBody>
          <a:bodyPr>
            <a:normAutofit fontScale="90000"/>
          </a:bodyPr>
          <a:lstStyle/>
          <a:p>
            <a:r>
              <a:rPr lang="en-US" b="1" dirty="0"/>
              <a:t>Classification of Noise</a:t>
            </a:r>
            <a:br>
              <a:rPr lang="en-IN" b="1" dirty="0"/>
            </a:br>
            <a:endParaRPr lang="en-IN" dirty="0"/>
          </a:p>
        </p:txBody>
      </p:sp>
      <p:sp>
        <p:nvSpPr>
          <p:cNvPr id="3" name="Content Placeholder 2">
            <a:extLst>
              <a:ext uri="{FF2B5EF4-FFF2-40B4-BE49-F238E27FC236}">
                <a16:creationId xmlns:a16="http://schemas.microsoft.com/office/drawing/2014/main" id="{D97D7AEC-3A23-CEEC-3E7C-D45B8EA9B357}"/>
              </a:ext>
            </a:extLst>
          </p:cNvPr>
          <p:cNvSpPr>
            <a:spLocks noGrp="1"/>
          </p:cNvSpPr>
          <p:nvPr>
            <p:ph idx="1"/>
          </p:nvPr>
        </p:nvSpPr>
        <p:spPr/>
        <p:txBody>
          <a:bodyPr/>
          <a:lstStyle/>
          <a:p>
            <a:pPr marL="0" indent="0">
              <a:buNone/>
            </a:pPr>
            <a:r>
              <a:rPr lang="en-US" dirty="0"/>
              <a:t>Although there are several ways of classifying noise, conveniently noise may be classified into two broad groups as under:</a:t>
            </a:r>
            <a:endParaRPr lang="en-IN" dirty="0"/>
          </a:p>
          <a:p>
            <a:r>
              <a:rPr lang="en-US" dirty="0"/>
              <a:t>(</a:t>
            </a:r>
            <a:r>
              <a:rPr lang="en-US" dirty="0" err="1"/>
              <a:t>i</a:t>
            </a:r>
            <a:r>
              <a:rPr lang="en-US" dirty="0"/>
              <a:t>) External Noise</a:t>
            </a:r>
            <a:endParaRPr lang="en-IN" dirty="0"/>
          </a:p>
          <a:p>
            <a:r>
              <a:rPr lang="en-US" dirty="0"/>
              <a:t>(ii) Internal Noise</a:t>
            </a:r>
            <a:endParaRPr lang="en-IN" dirty="0"/>
          </a:p>
          <a:p>
            <a:endParaRPr lang="en-IN" dirty="0"/>
          </a:p>
        </p:txBody>
      </p:sp>
    </p:spTree>
    <p:extLst>
      <p:ext uri="{BB962C8B-B14F-4D97-AF65-F5344CB8AC3E}">
        <p14:creationId xmlns:p14="http://schemas.microsoft.com/office/powerpoint/2010/main" val="202275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6FCB7-842B-6C92-F813-4163DBA78793}"/>
              </a:ext>
            </a:extLst>
          </p:cNvPr>
          <p:cNvSpPr>
            <a:spLocks noGrp="1"/>
          </p:cNvSpPr>
          <p:nvPr>
            <p:ph type="title"/>
          </p:nvPr>
        </p:nvSpPr>
        <p:spPr/>
        <p:txBody>
          <a:bodyPr/>
          <a:lstStyle/>
          <a:p>
            <a:r>
              <a:rPr lang="en-US" dirty="0"/>
              <a:t>External noise</a:t>
            </a:r>
            <a:endParaRPr lang="en-IN" dirty="0"/>
          </a:p>
        </p:txBody>
      </p:sp>
      <p:sp>
        <p:nvSpPr>
          <p:cNvPr id="3" name="Content Placeholder 2">
            <a:extLst>
              <a:ext uri="{FF2B5EF4-FFF2-40B4-BE49-F238E27FC236}">
                <a16:creationId xmlns:a16="http://schemas.microsoft.com/office/drawing/2014/main" id="{47D499C7-1BA3-AC20-CC93-D161A687CF31}"/>
              </a:ext>
            </a:extLst>
          </p:cNvPr>
          <p:cNvSpPr>
            <a:spLocks noGrp="1"/>
          </p:cNvSpPr>
          <p:nvPr>
            <p:ph idx="1"/>
          </p:nvPr>
        </p:nvSpPr>
        <p:spPr>
          <a:xfrm>
            <a:off x="457200" y="1270000"/>
            <a:ext cx="8229600" cy="5313362"/>
          </a:xfrm>
        </p:spPr>
        <p:txBody>
          <a:bodyPr>
            <a:normAutofit fontScale="77500" lnSpcReduction="20000"/>
          </a:bodyPr>
          <a:lstStyle/>
          <a:p>
            <a:r>
              <a:rPr lang="en-US" dirty="0"/>
              <a:t>External noise may be defined as that type of noise which is generated external to a communication system i.e. whose sources are external to the communication system.</a:t>
            </a:r>
            <a:endParaRPr lang="en-IN" dirty="0"/>
          </a:p>
          <a:p>
            <a:r>
              <a:rPr lang="en-US" dirty="0"/>
              <a:t>External noise cannot be analyzed quantitatively. In addition to this, for a given geographical point or location, external noise cannot be controlled. </a:t>
            </a:r>
          </a:p>
          <a:p>
            <a:r>
              <a:rPr lang="en-US" dirty="0"/>
              <a:t>Thus, to reduce the effect of external noise, the only way is to shift the communication system to another place or location which has comparatively smaller external noise.</a:t>
            </a:r>
          </a:p>
          <a:p>
            <a:r>
              <a:rPr lang="en-US" dirty="0"/>
              <a:t> Thus due to this reason, satellite earth stations are generally located in noise-free valleys.</a:t>
            </a:r>
            <a:endParaRPr lang="en-IN" dirty="0"/>
          </a:p>
          <a:p>
            <a:r>
              <a:rPr lang="en-US" dirty="0"/>
              <a:t>External noise may be classified as under:</a:t>
            </a:r>
            <a:endParaRPr lang="en-IN" dirty="0"/>
          </a:p>
          <a:p>
            <a:pPr marL="0" indent="0">
              <a:buNone/>
            </a:pPr>
            <a:r>
              <a:rPr lang="en-US" dirty="0"/>
              <a:t>(</a:t>
            </a:r>
            <a:r>
              <a:rPr lang="en-US" dirty="0" err="1"/>
              <a:t>i</a:t>
            </a:r>
            <a:r>
              <a:rPr lang="en-US" dirty="0"/>
              <a:t>) Atmospheric Noise</a:t>
            </a:r>
            <a:endParaRPr lang="en-IN" dirty="0"/>
          </a:p>
          <a:p>
            <a:pPr marL="0" indent="0">
              <a:buNone/>
            </a:pPr>
            <a:r>
              <a:rPr lang="en-US" dirty="0"/>
              <a:t>(ii) Extraterrestrial Noise</a:t>
            </a:r>
            <a:endParaRPr lang="en-IN" dirty="0"/>
          </a:p>
          <a:p>
            <a:pPr marL="0" indent="0">
              <a:buNone/>
            </a:pPr>
            <a:r>
              <a:rPr lang="en-US" dirty="0"/>
              <a:t>(iii) Industrial Noise</a:t>
            </a:r>
            <a:endParaRPr lang="en-IN" dirty="0"/>
          </a:p>
          <a:p>
            <a:endParaRPr lang="en-IN" dirty="0"/>
          </a:p>
        </p:txBody>
      </p:sp>
    </p:spTree>
    <p:extLst>
      <p:ext uri="{BB962C8B-B14F-4D97-AF65-F5344CB8AC3E}">
        <p14:creationId xmlns:p14="http://schemas.microsoft.com/office/powerpoint/2010/main" val="620834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F78D1-C5F8-D4D4-6CE0-6E36E82ECD8B}"/>
              </a:ext>
            </a:extLst>
          </p:cNvPr>
          <p:cNvSpPr>
            <a:spLocks noGrp="1"/>
          </p:cNvSpPr>
          <p:nvPr>
            <p:ph type="title"/>
          </p:nvPr>
        </p:nvSpPr>
        <p:spPr/>
        <p:txBody>
          <a:bodyPr>
            <a:normAutofit fontScale="90000"/>
          </a:bodyPr>
          <a:lstStyle/>
          <a:p>
            <a:r>
              <a:rPr lang="en-US" b="1" dirty="0"/>
              <a:t>Atmospheric Noise</a:t>
            </a:r>
            <a:br>
              <a:rPr lang="en-IN" b="1" dirty="0"/>
            </a:br>
            <a:endParaRPr lang="en-IN" dirty="0"/>
          </a:p>
        </p:txBody>
      </p:sp>
      <p:sp>
        <p:nvSpPr>
          <p:cNvPr id="3" name="Content Placeholder 2">
            <a:extLst>
              <a:ext uri="{FF2B5EF4-FFF2-40B4-BE49-F238E27FC236}">
                <a16:creationId xmlns:a16="http://schemas.microsoft.com/office/drawing/2014/main" id="{27FF93E6-4B8D-98BD-04BD-87BAD537F550}"/>
              </a:ext>
            </a:extLst>
          </p:cNvPr>
          <p:cNvSpPr>
            <a:spLocks noGrp="1"/>
          </p:cNvSpPr>
          <p:nvPr>
            <p:ph idx="1"/>
          </p:nvPr>
        </p:nvSpPr>
        <p:spPr/>
        <p:txBody>
          <a:bodyPr>
            <a:noAutofit/>
          </a:bodyPr>
          <a:lstStyle/>
          <a:p>
            <a:pPr algn="just"/>
            <a:r>
              <a:rPr lang="en-US" sz="3000" dirty="0"/>
              <a:t>Atmospheric noise, which is also called static, is produced by lightning discharges in thunderstorms and other natural electrical disturbances which occur in the atmosphere. </a:t>
            </a:r>
          </a:p>
          <a:p>
            <a:pPr algn="just"/>
            <a:r>
              <a:rPr lang="en-US" sz="3000" dirty="0"/>
              <a:t>These electric impulses are random in nature. Thus this energy is spread over the complete frequency spectrum used for radio communication.</a:t>
            </a:r>
            <a:endParaRPr lang="en-IN" sz="3000" dirty="0"/>
          </a:p>
          <a:p>
            <a:pPr algn="just"/>
            <a:r>
              <a:rPr lang="en-US" sz="3000" dirty="0"/>
              <a:t>Atmospheric noise contains spurious radio signals which are distributed over a wide frequency range. </a:t>
            </a:r>
            <a:endParaRPr lang="en-IN" sz="3000" dirty="0"/>
          </a:p>
        </p:txBody>
      </p:sp>
    </p:spTree>
    <p:extLst>
      <p:ext uri="{BB962C8B-B14F-4D97-AF65-F5344CB8AC3E}">
        <p14:creationId xmlns:p14="http://schemas.microsoft.com/office/powerpoint/2010/main" val="2697302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C8B3-608E-F6A9-0EDD-F15C5C06529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82B01C-5C2A-81CA-DB71-D59DF08E496A}"/>
              </a:ext>
            </a:extLst>
          </p:cNvPr>
          <p:cNvSpPr>
            <a:spLocks noGrp="1"/>
          </p:cNvSpPr>
          <p:nvPr>
            <p:ph idx="1"/>
          </p:nvPr>
        </p:nvSpPr>
        <p:spPr/>
        <p:txBody>
          <a:bodyPr>
            <a:normAutofit fontScale="92500" lnSpcReduction="10000"/>
          </a:bodyPr>
          <a:lstStyle/>
          <a:p>
            <a:pPr algn="just"/>
            <a:r>
              <a:rPr lang="en-US" dirty="0"/>
              <a:t>In fact, these spurious radio waves constituting the noise propagate over the earth in the manner as the required radio waves of the same frequency. </a:t>
            </a:r>
          </a:p>
          <a:p>
            <a:pPr algn="just"/>
            <a:r>
              <a:rPr lang="en-US" dirty="0"/>
              <a:t>Thus, due to this reason, at any given receiving point, the receiving antenna picks up not only the required signal but also the static from all the thunderstorms.</a:t>
            </a:r>
          </a:p>
          <a:p>
            <a:pPr algn="just"/>
            <a:r>
              <a:rPr lang="en-US" dirty="0"/>
              <a:t>Thus atmospheric noise becomes less severe at frequencies above about 30 </a:t>
            </a:r>
            <a:r>
              <a:rPr lang="en-US" dirty="0" err="1"/>
              <a:t>MHz.</a:t>
            </a:r>
            <a:endParaRPr lang="en-IN" dirty="0"/>
          </a:p>
          <a:p>
            <a:pPr algn="just"/>
            <a:endParaRPr lang="en-IN" dirty="0"/>
          </a:p>
          <a:p>
            <a:endParaRPr lang="en-IN" dirty="0"/>
          </a:p>
        </p:txBody>
      </p:sp>
    </p:spTree>
    <p:extLst>
      <p:ext uri="{BB962C8B-B14F-4D97-AF65-F5344CB8AC3E}">
        <p14:creationId xmlns:p14="http://schemas.microsoft.com/office/powerpoint/2010/main" val="3271668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D9605-0FEA-7380-EFDD-333E06C230F9}"/>
              </a:ext>
            </a:extLst>
          </p:cNvPr>
          <p:cNvSpPr>
            <a:spLocks noGrp="1"/>
          </p:cNvSpPr>
          <p:nvPr>
            <p:ph type="title"/>
          </p:nvPr>
        </p:nvSpPr>
        <p:spPr/>
        <p:txBody>
          <a:bodyPr>
            <a:normAutofit fontScale="90000"/>
          </a:bodyPr>
          <a:lstStyle/>
          <a:p>
            <a:r>
              <a:rPr lang="en-US" b="1" dirty="0"/>
              <a:t>Extraterrestrial Noise</a:t>
            </a:r>
            <a:br>
              <a:rPr lang="en-IN" b="1" dirty="0"/>
            </a:br>
            <a:endParaRPr lang="en-IN" dirty="0"/>
          </a:p>
        </p:txBody>
      </p:sp>
      <p:sp>
        <p:nvSpPr>
          <p:cNvPr id="3" name="Content Placeholder 2">
            <a:extLst>
              <a:ext uri="{FF2B5EF4-FFF2-40B4-BE49-F238E27FC236}">
                <a16:creationId xmlns:a16="http://schemas.microsoft.com/office/drawing/2014/main" id="{0D80D3D0-CD0D-ABD6-A139-373CBD5DB22E}"/>
              </a:ext>
            </a:extLst>
          </p:cNvPr>
          <p:cNvSpPr>
            <a:spLocks noGrp="1"/>
          </p:cNvSpPr>
          <p:nvPr>
            <p:ph idx="1"/>
          </p:nvPr>
        </p:nvSpPr>
        <p:spPr/>
        <p:txBody>
          <a:bodyPr>
            <a:normAutofit fontScale="92500" lnSpcReduction="20000"/>
          </a:bodyPr>
          <a:lstStyle/>
          <a:p>
            <a:pPr algn="just"/>
            <a:r>
              <a:rPr lang="en-US" dirty="0"/>
              <a:t>There are several types of extraterrestrial noise or space noise depending upon their sources. Extraterrestrial noise may be divided into the following two sub-groups.</a:t>
            </a:r>
          </a:p>
          <a:p>
            <a:pPr marL="0" indent="0" algn="just">
              <a:buNone/>
            </a:pPr>
            <a:r>
              <a:rPr lang="en-US" dirty="0"/>
              <a:t>(</a:t>
            </a:r>
            <a:r>
              <a:rPr lang="en-US" dirty="0" err="1"/>
              <a:t>i</a:t>
            </a:r>
            <a:r>
              <a:rPr lang="en-US" dirty="0"/>
              <a:t>) Solar Noise</a:t>
            </a:r>
            <a:endParaRPr lang="en-IN" dirty="0"/>
          </a:p>
          <a:p>
            <a:pPr marL="0" indent="0" algn="just">
              <a:buNone/>
            </a:pPr>
            <a:r>
              <a:rPr lang="en-US" dirty="0"/>
              <a:t>(ii) Cosmic Noise</a:t>
            </a:r>
          </a:p>
          <a:p>
            <a:pPr marL="0" indent="0" algn="just">
              <a:buNone/>
            </a:pPr>
            <a:r>
              <a:rPr lang="en-US" b="1" dirty="0"/>
              <a:t>Solar Noise</a:t>
            </a:r>
            <a:endParaRPr lang="en-IN" b="1" dirty="0"/>
          </a:p>
          <a:p>
            <a:pPr algn="just"/>
            <a:r>
              <a:rPr lang="en-US" dirty="0"/>
              <a:t>Solar noise is the electrical noise emanating from the Sun. Under steady conditions, there is a regular radiation of noise from the Sun.</a:t>
            </a:r>
            <a:endParaRPr lang="en-IN" dirty="0"/>
          </a:p>
          <a:p>
            <a:endParaRPr lang="en-IN" dirty="0"/>
          </a:p>
          <a:p>
            <a:endParaRPr lang="en-IN" dirty="0"/>
          </a:p>
        </p:txBody>
      </p:sp>
    </p:spTree>
    <p:extLst>
      <p:ext uri="{BB962C8B-B14F-4D97-AF65-F5344CB8AC3E}">
        <p14:creationId xmlns:p14="http://schemas.microsoft.com/office/powerpoint/2010/main" val="1953105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E1049-160F-364C-4332-E93D07905392}"/>
              </a:ext>
            </a:extLst>
          </p:cNvPr>
          <p:cNvSpPr>
            <a:spLocks noGrp="1"/>
          </p:cNvSpPr>
          <p:nvPr>
            <p:ph type="title"/>
          </p:nvPr>
        </p:nvSpPr>
        <p:spPr/>
        <p:txBody>
          <a:bodyPr>
            <a:normAutofit fontScale="90000"/>
          </a:bodyPr>
          <a:lstStyle/>
          <a:p>
            <a:r>
              <a:rPr lang="en-US" dirty="0"/>
              <a:t>Cosmic Noise</a:t>
            </a:r>
            <a:br>
              <a:rPr lang="en-US" dirty="0"/>
            </a:br>
            <a:endParaRPr lang="en-IN" dirty="0"/>
          </a:p>
        </p:txBody>
      </p:sp>
      <p:sp>
        <p:nvSpPr>
          <p:cNvPr id="3" name="Content Placeholder 2">
            <a:extLst>
              <a:ext uri="{FF2B5EF4-FFF2-40B4-BE49-F238E27FC236}">
                <a16:creationId xmlns:a16="http://schemas.microsoft.com/office/drawing/2014/main" id="{0953F069-87CF-85AA-B1B6-B9C373A4C2E4}"/>
              </a:ext>
            </a:extLst>
          </p:cNvPr>
          <p:cNvSpPr>
            <a:spLocks noGrp="1"/>
          </p:cNvSpPr>
          <p:nvPr>
            <p:ph idx="1"/>
          </p:nvPr>
        </p:nvSpPr>
        <p:spPr/>
        <p:txBody>
          <a:bodyPr/>
          <a:lstStyle/>
          <a:p>
            <a:r>
              <a:rPr lang="en-US" dirty="0"/>
              <a:t>Distant stars can also be considered Suns. These distant stars have high temperatures and therefore radiate noise in the same manner as the Sun. </a:t>
            </a:r>
          </a:p>
          <a:p>
            <a:r>
              <a:rPr lang="en-US" dirty="0"/>
              <a:t>The noise received from these distant stars is thermal noise and is distributed almost uniformly over the entire sky.</a:t>
            </a:r>
            <a:endParaRPr lang="en-IN" dirty="0"/>
          </a:p>
        </p:txBody>
      </p:sp>
    </p:spTree>
    <p:extLst>
      <p:ext uri="{BB962C8B-B14F-4D97-AF65-F5344CB8AC3E}">
        <p14:creationId xmlns:p14="http://schemas.microsoft.com/office/powerpoint/2010/main" val="2243625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700EF-FB66-F30A-4292-2691E34FFB75}"/>
              </a:ext>
            </a:extLst>
          </p:cNvPr>
          <p:cNvSpPr>
            <a:spLocks noGrp="1"/>
          </p:cNvSpPr>
          <p:nvPr>
            <p:ph type="title"/>
          </p:nvPr>
        </p:nvSpPr>
        <p:spPr/>
        <p:txBody>
          <a:bodyPr/>
          <a:lstStyle/>
          <a:p>
            <a:r>
              <a:rPr lang="en-US" dirty="0"/>
              <a:t>Industrial Noise</a:t>
            </a:r>
            <a:endParaRPr lang="en-IN" dirty="0"/>
          </a:p>
        </p:txBody>
      </p:sp>
      <p:sp>
        <p:nvSpPr>
          <p:cNvPr id="3" name="Content Placeholder 2">
            <a:extLst>
              <a:ext uri="{FF2B5EF4-FFF2-40B4-BE49-F238E27FC236}">
                <a16:creationId xmlns:a16="http://schemas.microsoft.com/office/drawing/2014/main" id="{FF00A693-34BB-4811-FF23-93D057E6CA32}"/>
              </a:ext>
            </a:extLst>
          </p:cNvPr>
          <p:cNvSpPr>
            <a:spLocks noGrp="1"/>
          </p:cNvSpPr>
          <p:nvPr>
            <p:ph idx="1"/>
          </p:nvPr>
        </p:nvSpPr>
        <p:spPr>
          <a:xfrm>
            <a:off x="457200" y="1270000"/>
            <a:ext cx="8229600" cy="5588000"/>
          </a:xfrm>
        </p:spPr>
        <p:txBody>
          <a:bodyPr>
            <a:normAutofit fontScale="92500" lnSpcReduction="20000"/>
          </a:bodyPr>
          <a:lstStyle/>
          <a:p>
            <a:pPr algn="just"/>
            <a:r>
              <a:rPr lang="en-US" dirty="0"/>
              <a:t>The industrial noise or man-made noise is that type of noise which is produced by such sources as automobiles and aircraft ignition, electrical motors, switch gears and leakage from high voltage transmission lines and several other heavy electrical </a:t>
            </a:r>
            <a:r>
              <a:rPr lang="en-US" dirty="0" err="1"/>
              <a:t>equipments</a:t>
            </a:r>
            <a:r>
              <a:rPr lang="en-US" dirty="0"/>
              <a:t>. </a:t>
            </a:r>
          </a:p>
          <a:p>
            <a:pPr algn="just"/>
            <a:r>
              <a:rPr lang="en-US" dirty="0"/>
              <a:t>Such type of noise is produced by the arc discharge taking place during operation of all these machines or </a:t>
            </a:r>
            <a:r>
              <a:rPr lang="en-US" dirty="0" err="1"/>
              <a:t>equipments</a:t>
            </a:r>
            <a:r>
              <a:rPr lang="en-US" dirty="0"/>
              <a:t>.</a:t>
            </a:r>
            <a:endParaRPr lang="en-IN" dirty="0"/>
          </a:p>
          <a:p>
            <a:pPr algn="just"/>
            <a:r>
              <a:rPr lang="en-US" dirty="0"/>
              <a:t>Industrial or man-made noise is quite intensive in industrial areas, dense populated urban areas.</a:t>
            </a:r>
          </a:p>
          <a:p>
            <a:pPr algn="just"/>
            <a:r>
              <a:rPr lang="en-US" dirty="0"/>
              <a:t> Industrial noise in such areas are much stronger than all other sources of noise in the frequency range extending from about 1 MHz to 600 </a:t>
            </a:r>
            <a:r>
              <a:rPr lang="en-US" dirty="0" err="1"/>
              <a:t>MHz.</a:t>
            </a:r>
            <a:endParaRPr lang="en-IN" dirty="0"/>
          </a:p>
          <a:p>
            <a:endParaRPr lang="en-IN" dirty="0"/>
          </a:p>
        </p:txBody>
      </p:sp>
    </p:spTree>
    <p:extLst>
      <p:ext uri="{BB962C8B-B14F-4D97-AF65-F5344CB8AC3E}">
        <p14:creationId xmlns:p14="http://schemas.microsoft.com/office/powerpoint/2010/main" val="1179993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EABDB-A8CB-AB88-1663-05018B69C465}"/>
              </a:ext>
            </a:extLst>
          </p:cNvPr>
          <p:cNvSpPr>
            <a:spLocks noGrp="1"/>
          </p:cNvSpPr>
          <p:nvPr>
            <p:ph type="title"/>
          </p:nvPr>
        </p:nvSpPr>
        <p:spPr/>
        <p:txBody>
          <a:bodyPr/>
          <a:lstStyle/>
          <a:p>
            <a:r>
              <a:rPr lang="en-US" dirty="0"/>
              <a:t>Internal noise</a:t>
            </a:r>
            <a:endParaRPr lang="en-IN" dirty="0"/>
          </a:p>
        </p:txBody>
      </p:sp>
      <p:sp>
        <p:nvSpPr>
          <p:cNvPr id="3" name="Content Placeholder 2">
            <a:extLst>
              <a:ext uri="{FF2B5EF4-FFF2-40B4-BE49-F238E27FC236}">
                <a16:creationId xmlns:a16="http://schemas.microsoft.com/office/drawing/2014/main" id="{A0F1C7A1-31A7-7D5B-16FD-04EDCC2D33DD}"/>
              </a:ext>
            </a:extLst>
          </p:cNvPr>
          <p:cNvSpPr>
            <a:spLocks noGrp="1"/>
          </p:cNvSpPr>
          <p:nvPr>
            <p:ph idx="1"/>
          </p:nvPr>
        </p:nvSpPr>
        <p:spPr/>
        <p:txBody>
          <a:bodyPr>
            <a:normAutofit fontScale="92500" lnSpcReduction="20000"/>
          </a:bodyPr>
          <a:lstStyle/>
          <a:p>
            <a:pPr algn="just"/>
            <a:r>
              <a:rPr lang="en-US" dirty="0"/>
              <a:t>Internal noise is that type of noise which is generated internally or within the communication system or receiver. Internal noise may be treated quantitatively and can also be reduced or minimized by proper system design. </a:t>
            </a:r>
          </a:p>
          <a:p>
            <a:pPr algn="just"/>
            <a:r>
              <a:rPr lang="en-US" dirty="0"/>
              <a:t>Since internal noise is randomly distributed over the entire frequency spectrum, the noise present in a given bandwidth B is the same at any frequency in the frequency spectrum. </a:t>
            </a:r>
          </a:p>
          <a:p>
            <a:pPr algn="just"/>
            <a:r>
              <a:rPr lang="en-US" dirty="0"/>
              <a:t>Hence, this random noise power is proportional to the bandwidth over which it is measured.</a:t>
            </a:r>
            <a:endParaRPr lang="en-IN" dirty="0"/>
          </a:p>
          <a:p>
            <a:pPr algn="just"/>
            <a:endParaRPr lang="en-IN" dirty="0"/>
          </a:p>
        </p:txBody>
      </p:sp>
    </p:spTree>
    <p:extLst>
      <p:ext uri="{BB962C8B-B14F-4D97-AF65-F5344CB8AC3E}">
        <p14:creationId xmlns:p14="http://schemas.microsoft.com/office/powerpoint/2010/main" val="4280887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A3AA6-B86A-64CA-166B-31B5E760F30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CC3F0E-050F-766C-1B8E-C6CF956DDE5A}"/>
              </a:ext>
            </a:extLst>
          </p:cNvPr>
          <p:cNvSpPr>
            <a:spLocks noGrp="1"/>
          </p:cNvSpPr>
          <p:nvPr>
            <p:ph idx="1"/>
          </p:nvPr>
        </p:nvSpPr>
        <p:spPr/>
        <p:txBody>
          <a:bodyPr/>
          <a:lstStyle/>
          <a:p>
            <a:pPr marL="0" indent="0">
              <a:buNone/>
            </a:pPr>
            <a:r>
              <a:rPr lang="en-US" dirty="0"/>
              <a:t>Internal noise may be classified as under:</a:t>
            </a:r>
            <a:endParaRPr lang="en-IN" dirty="0"/>
          </a:p>
          <a:p>
            <a:pPr marL="0" indent="0">
              <a:buNone/>
            </a:pPr>
            <a:r>
              <a:rPr lang="en-US" dirty="0"/>
              <a:t>(</a:t>
            </a:r>
            <a:r>
              <a:rPr lang="en-US" dirty="0" err="1"/>
              <a:t>i</a:t>
            </a:r>
            <a:r>
              <a:rPr lang="en-US" dirty="0"/>
              <a:t>) Shot noise</a:t>
            </a:r>
            <a:endParaRPr lang="en-IN" dirty="0"/>
          </a:p>
          <a:p>
            <a:pPr marL="0" indent="0">
              <a:buNone/>
            </a:pPr>
            <a:r>
              <a:rPr lang="en-US" dirty="0"/>
              <a:t>(ii) Partition noise</a:t>
            </a:r>
            <a:endParaRPr lang="en-IN" dirty="0"/>
          </a:p>
          <a:p>
            <a:pPr marL="0" indent="0">
              <a:buNone/>
            </a:pPr>
            <a:r>
              <a:rPr lang="en-US" dirty="0"/>
              <a:t>(iii) Low frequency or Flicker noise</a:t>
            </a:r>
            <a:endParaRPr lang="en-IN" dirty="0"/>
          </a:p>
          <a:p>
            <a:pPr marL="0" indent="0">
              <a:buNone/>
            </a:pPr>
            <a:r>
              <a:rPr lang="en-US" dirty="0"/>
              <a:t>(iv) High-frequency or transit-time noise</a:t>
            </a:r>
            <a:endParaRPr lang="en-IN" dirty="0"/>
          </a:p>
          <a:p>
            <a:pPr marL="0" indent="0">
              <a:buNone/>
            </a:pPr>
            <a:r>
              <a:rPr lang="en-US" dirty="0"/>
              <a:t>(v) Thermal noise</a:t>
            </a:r>
            <a:endParaRPr lang="en-IN" dirty="0"/>
          </a:p>
          <a:p>
            <a:endParaRPr lang="en-IN" dirty="0"/>
          </a:p>
        </p:txBody>
      </p:sp>
    </p:spTree>
    <p:extLst>
      <p:ext uri="{BB962C8B-B14F-4D97-AF65-F5344CB8AC3E}">
        <p14:creationId xmlns:p14="http://schemas.microsoft.com/office/powerpoint/2010/main" val="3548361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FE1F7-0815-CF40-A703-F47B44B0C664}"/>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E2BD0884-5503-0AF0-DCB7-535F52C4CF88}"/>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C611C699-A1F0-578D-BE3A-68EE84A77CD5}"/>
              </a:ext>
            </a:extLst>
          </p:cNvPr>
          <p:cNvPicPr>
            <a:picLocks noChangeAspect="1"/>
          </p:cNvPicPr>
          <p:nvPr/>
        </p:nvPicPr>
        <p:blipFill>
          <a:blip r:embed="rId2"/>
          <a:stretch>
            <a:fillRect/>
          </a:stretch>
        </p:blipFill>
        <p:spPr>
          <a:xfrm>
            <a:off x="487680" y="853440"/>
            <a:ext cx="7894320" cy="5264556"/>
          </a:xfrm>
          <a:prstGeom prst="rect">
            <a:avLst/>
          </a:prstGeom>
        </p:spPr>
      </p:pic>
    </p:spTree>
    <p:extLst>
      <p:ext uri="{BB962C8B-B14F-4D97-AF65-F5344CB8AC3E}">
        <p14:creationId xmlns:p14="http://schemas.microsoft.com/office/powerpoint/2010/main" val="1759494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C09F3-6962-D36C-BF1F-F76C13145DDF}"/>
              </a:ext>
            </a:extLst>
          </p:cNvPr>
          <p:cNvSpPr>
            <a:spLocks noGrp="1"/>
          </p:cNvSpPr>
          <p:nvPr>
            <p:ph type="title"/>
          </p:nvPr>
        </p:nvSpPr>
        <p:spPr/>
        <p:txBody>
          <a:bodyPr/>
          <a:lstStyle/>
          <a:p>
            <a:r>
              <a:rPr lang="en-US" dirty="0"/>
              <a:t>Shot Noise</a:t>
            </a:r>
            <a:endParaRPr lang="en-IN" dirty="0"/>
          </a:p>
        </p:txBody>
      </p:sp>
      <p:sp>
        <p:nvSpPr>
          <p:cNvPr id="3" name="Content Placeholder 2">
            <a:extLst>
              <a:ext uri="{FF2B5EF4-FFF2-40B4-BE49-F238E27FC236}">
                <a16:creationId xmlns:a16="http://schemas.microsoft.com/office/drawing/2014/main" id="{9F08415E-0DAC-62B7-5A95-74174EDDD9CC}"/>
              </a:ext>
            </a:extLst>
          </p:cNvPr>
          <p:cNvSpPr>
            <a:spLocks noGrp="1"/>
          </p:cNvSpPr>
          <p:nvPr>
            <p:ph idx="1"/>
          </p:nvPr>
        </p:nvSpPr>
        <p:spPr/>
        <p:txBody>
          <a:bodyPr>
            <a:normAutofit lnSpcReduction="10000"/>
          </a:bodyPr>
          <a:lstStyle/>
          <a:p>
            <a:pPr algn="just"/>
            <a:r>
              <a:rPr lang="en-US" dirty="0"/>
              <a:t>Shot noise arises in active devices due to random </a:t>
            </a:r>
            <a:r>
              <a:rPr lang="en-US" dirty="0" err="1"/>
              <a:t>behaviour</a:t>
            </a:r>
            <a:r>
              <a:rPr lang="en-US" dirty="0"/>
              <a:t> of charge carriers.</a:t>
            </a:r>
          </a:p>
          <a:p>
            <a:pPr algn="just"/>
            <a:r>
              <a:rPr lang="en-US" dirty="0"/>
              <a:t> In electron tubes, shot noise is generated due to the random emission of electrons from cathodes.</a:t>
            </a:r>
          </a:p>
          <a:p>
            <a:pPr algn="just"/>
            <a:r>
              <a:rPr lang="en-US" dirty="0"/>
              <a:t>In semiconductor devices shot noise is generated due to the random diffusion of minority carriers or simply random generation and recombination of electron-hole pairs.</a:t>
            </a:r>
            <a:endParaRPr lang="en-IN" dirty="0"/>
          </a:p>
          <a:p>
            <a:pPr algn="just"/>
            <a:endParaRPr lang="en-IN" dirty="0"/>
          </a:p>
        </p:txBody>
      </p:sp>
    </p:spTree>
    <p:extLst>
      <p:ext uri="{BB962C8B-B14F-4D97-AF65-F5344CB8AC3E}">
        <p14:creationId xmlns:p14="http://schemas.microsoft.com/office/powerpoint/2010/main" val="2546838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Shot Noise in Diodes</a:t>
            </a:r>
          </a:p>
        </p:txBody>
      </p:sp>
      <p:sp>
        <p:nvSpPr>
          <p:cNvPr id="3" name="Content Placeholder 2"/>
          <p:cNvSpPr>
            <a:spLocks noGrp="1"/>
          </p:cNvSpPr>
          <p:nvPr>
            <p:ph idx="1"/>
          </p:nvPr>
        </p:nvSpPr>
        <p:spPr/>
        <p:txBody>
          <a:bodyPr/>
          <a:lstStyle/>
          <a:p>
            <a:pPr algn="just"/>
            <a:r>
              <a:rPr dirty="0"/>
              <a:t>Based on current fluctuation in electronic devices</a:t>
            </a:r>
            <a:endParaRPr lang="en-US" dirty="0"/>
          </a:p>
          <a:p>
            <a:pPr algn="just"/>
            <a:r>
              <a:rPr lang="en-US" dirty="0"/>
              <a:t>Current in electron devices flows as discrete pulses when electrons move from cathode to anode.</a:t>
            </a:r>
          </a:p>
          <a:p>
            <a:pPr algn="just"/>
            <a:r>
              <a:rPr lang="en-US" dirty="0"/>
              <a:t>Shot noise is caused by random arrival of electrons and results in current fluctuation around the mean value.</a:t>
            </a:r>
          </a:p>
          <a:p>
            <a:pPr algn="just"/>
            <a:endParaRPr lang="en-US" dirty="0"/>
          </a:p>
          <a:p>
            <a:pPr algn="just"/>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Current Fluctuation</a:t>
            </a:r>
          </a:p>
        </p:txBody>
      </p:sp>
      <p:sp>
        <p:nvSpPr>
          <p:cNvPr id="3" name="Content Placeholder 2"/>
          <p:cNvSpPr>
            <a:spLocks noGrp="1"/>
          </p:cNvSpPr>
          <p:nvPr>
            <p:ph idx="1"/>
          </p:nvPr>
        </p:nvSpPr>
        <p:spPr/>
        <p:txBody>
          <a:bodyPr/>
          <a:lstStyle/>
          <a:p>
            <a:r>
              <a:t>Current fluctuates around a mean value I₀.</a:t>
            </a:r>
          </a:p>
          <a:p>
            <a:r>
              <a:t>Actual current: i(t) = I₀ + iₙ(t)</a:t>
            </a:r>
          </a:p>
          <a:p>
            <a:r>
              <a:t>I₀ = mean current</a:t>
            </a:r>
          </a:p>
          <a:p>
            <a:r>
              <a:t>iₙ(t) = shot noise current</a:t>
            </a:r>
          </a:p>
        </p:txBody>
      </p:sp>
      <p:pic>
        <p:nvPicPr>
          <p:cNvPr id="5" name="Picture 4">
            <a:extLst>
              <a:ext uri="{FF2B5EF4-FFF2-40B4-BE49-F238E27FC236}">
                <a16:creationId xmlns:a16="http://schemas.microsoft.com/office/drawing/2014/main" id="{137C87C7-7741-65FF-937C-89AD1FC2A7AE}"/>
              </a:ext>
            </a:extLst>
          </p:cNvPr>
          <p:cNvPicPr>
            <a:picLocks noChangeAspect="1"/>
          </p:cNvPicPr>
          <p:nvPr/>
        </p:nvPicPr>
        <p:blipFill>
          <a:blip r:embed="rId2"/>
          <a:stretch>
            <a:fillRect/>
          </a:stretch>
        </p:blipFill>
        <p:spPr>
          <a:xfrm>
            <a:off x="2278553" y="4306382"/>
            <a:ext cx="4153260" cy="22075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4BE2-0AB9-4C1E-6F38-4463EC4776E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116F82C-6738-E7C9-5ABA-3499F69558A8}"/>
              </a:ext>
            </a:extLst>
          </p:cNvPr>
          <p:cNvPicPr>
            <a:picLocks noGrp="1" noChangeAspect="1"/>
          </p:cNvPicPr>
          <p:nvPr>
            <p:ph idx="1"/>
          </p:nvPr>
        </p:nvPicPr>
        <p:blipFill>
          <a:blip r:embed="rId2"/>
          <a:stretch>
            <a:fillRect/>
          </a:stretch>
        </p:blipFill>
        <p:spPr>
          <a:xfrm>
            <a:off x="1225485" y="1417638"/>
            <a:ext cx="6806152" cy="5165723"/>
          </a:xfrm>
          <a:prstGeom prst="rect">
            <a:avLst/>
          </a:prstGeom>
        </p:spPr>
      </p:pic>
    </p:spTree>
    <p:extLst>
      <p:ext uri="{BB962C8B-B14F-4D97-AF65-F5344CB8AC3E}">
        <p14:creationId xmlns:p14="http://schemas.microsoft.com/office/powerpoint/2010/main" val="2716737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Shot Noise</a:t>
            </a:r>
          </a:p>
        </p:txBody>
      </p:sp>
      <p:sp>
        <p:nvSpPr>
          <p:cNvPr id="3" name="Content Placeholder 2"/>
          <p:cNvSpPr>
            <a:spLocks noGrp="1"/>
          </p:cNvSpPr>
          <p:nvPr>
            <p:ph idx="1"/>
          </p:nvPr>
        </p:nvSpPr>
        <p:spPr/>
        <p:txBody>
          <a:bodyPr/>
          <a:lstStyle/>
          <a:p>
            <a:pPr algn="just"/>
            <a:r>
              <a:rPr dirty="0"/>
              <a:t>Random fluctuation in current caused by discrete arrival of electrons.</a:t>
            </a:r>
            <a:endParaRPr lang="en-US" dirty="0"/>
          </a:p>
          <a:p>
            <a:pPr algn="just"/>
            <a:r>
              <a:rPr lang="en-US" dirty="0"/>
              <a:t>The noise component </a:t>
            </a:r>
            <a:r>
              <a:rPr lang="en-US" dirty="0" err="1"/>
              <a:t>i</a:t>
            </a:r>
            <a:r>
              <a:rPr lang="en-US" dirty="0"/>
              <a:t>ₙ(t) is random and cannot be predicted as a function of time.</a:t>
            </a:r>
          </a:p>
          <a:p>
            <a:pPr algn="just"/>
            <a:r>
              <a:rPr lang="en-US" dirty="0"/>
              <a:t>Large number of electrons contribute to the noise.</a:t>
            </a:r>
          </a:p>
          <a:p>
            <a:pPr algn="just"/>
            <a:r>
              <a:rPr lang="en-US" dirty="0"/>
              <a:t>By Central Limit Theorem, shot noise follows Gaussian distribution.</a:t>
            </a:r>
          </a:p>
          <a:p>
            <a:pPr algn="just"/>
            <a:endParaRPr lang="en-US" dirty="0"/>
          </a:p>
          <a:p>
            <a:pPr algn="just"/>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Power Density Spectrum</a:t>
            </a:r>
          </a:p>
        </p:txBody>
      </p:sp>
      <p:sp>
        <p:nvSpPr>
          <p:cNvPr id="3" name="Content Placeholder 2"/>
          <p:cNvSpPr>
            <a:spLocks noGrp="1"/>
          </p:cNvSpPr>
          <p:nvPr>
            <p:ph idx="1"/>
          </p:nvPr>
        </p:nvSpPr>
        <p:spPr/>
        <p:txBody>
          <a:bodyPr/>
          <a:lstStyle/>
          <a:p>
            <a:r>
              <a:t>Power density spectrum of shot noise current:</a:t>
            </a:r>
          </a:p>
          <a:p>
            <a:r>
              <a:t>Sᵢ(f) = q I₀</a:t>
            </a:r>
          </a:p>
          <a:p>
            <a:r>
              <a:t>q = electronic charge</a:t>
            </a:r>
          </a:p>
          <a:p>
            <a:r>
              <a:t>I₀ = mean current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Frequency Property</a:t>
            </a:r>
          </a:p>
        </p:txBody>
      </p:sp>
      <p:sp>
        <p:nvSpPr>
          <p:cNvPr id="3" name="Content Placeholder 2"/>
          <p:cNvSpPr>
            <a:spLocks noGrp="1"/>
          </p:cNvSpPr>
          <p:nvPr>
            <p:ph idx="1"/>
          </p:nvPr>
        </p:nvSpPr>
        <p:spPr/>
        <p:txBody>
          <a:bodyPr/>
          <a:lstStyle/>
          <a:p>
            <a:r>
              <a:rPr dirty="0"/>
              <a:t>The power density spectrum is frequency independent within a certain range.</a:t>
            </a:r>
            <a:endParaRPr lang="en-US" dirty="0"/>
          </a:p>
          <a:p>
            <a:r>
              <a:rPr lang="en-US" dirty="0"/>
              <a:t>Transit time of electron:</a:t>
            </a:r>
          </a:p>
          <a:p>
            <a:r>
              <a:rPr lang="en-US" dirty="0"/>
              <a:t>τ = 3.36 d / √V  </a:t>
            </a:r>
            <a:r>
              <a:rPr lang="en-US" dirty="0" err="1"/>
              <a:t>μsec</a:t>
            </a:r>
            <a:endParaRPr lang="en-US" dirty="0"/>
          </a:p>
          <a:p>
            <a:r>
              <a:rPr lang="en-US" dirty="0"/>
              <a:t>Where d = distance between cathode and anode</a:t>
            </a:r>
          </a:p>
          <a:p>
            <a:r>
              <a:rPr lang="en-US" dirty="0"/>
              <a:t>V = anode voltage</a:t>
            </a:r>
          </a:p>
          <a:p>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8C129-1917-CD36-B45A-EF8596E1A82E}"/>
              </a:ext>
            </a:extLst>
          </p:cNvPr>
          <p:cNvSpPr>
            <a:spLocks noGrp="1"/>
          </p:cNvSpPr>
          <p:nvPr>
            <p:ph type="title"/>
          </p:nvPr>
        </p:nvSpPr>
        <p:spPr/>
        <p:txBody>
          <a:bodyPr/>
          <a:lstStyle/>
          <a:p>
            <a:r>
              <a:rPr lang="en-US" dirty="0"/>
              <a:t>Thermal Noise</a:t>
            </a:r>
            <a:endParaRPr lang="en-IN" dirty="0"/>
          </a:p>
        </p:txBody>
      </p:sp>
      <p:sp>
        <p:nvSpPr>
          <p:cNvPr id="3" name="Content Placeholder 2">
            <a:extLst>
              <a:ext uri="{FF2B5EF4-FFF2-40B4-BE49-F238E27FC236}">
                <a16:creationId xmlns:a16="http://schemas.microsoft.com/office/drawing/2014/main" id="{2F0FC466-0DC5-87EF-81DD-650706591E3D}"/>
              </a:ext>
            </a:extLst>
          </p:cNvPr>
          <p:cNvSpPr>
            <a:spLocks noGrp="1"/>
          </p:cNvSpPr>
          <p:nvPr>
            <p:ph idx="1"/>
          </p:nvPr>
        </p:nvSpPr>
        <p:spPr/>
        <p:txBody>
          <a:bodyPr>
            <a:normAutofit fontScale="77500" lnSpcReduction="20000"/>
          </a:bodyPr>
          <a:lstStyle/>
          <a:p>
            <a:r>
              <a:rPr lang="en-US" dirty="0"/>
              <a:t>Thermal noise (also called Johnson noise or white noise) is generated in a resistor due to the random motion of electrons, atoms and molecules. </a:t>
            </a:r>
          </a:p>
          <a:p>
            <a:r>
              <a:rPr lang="en-US" dirty="0"/>
              <a:t>The noise power produced in a resistor is proportional to its absolute temperature and also proportional to the bandwidth over which the noise is measured.</a:t>
            </a:r>
            <a:endParaRPr lang="en-IN" dirty="0"/>
          </a:p>
          <a:p>
            <a:r>
              <a:rPr lang="en-US" dirty="0"/>
              <a:t>The maximum noise power of a resistor is given by:                                                  </a:t>
            </a:r>
          </a:p>
          <a:p>
            <a:r>
              <a:rPr lang="en-US" dirty="0"/>
              <a:t>                               Pₙ = k T B</a:t>
            </a:r>
            <a:endParaRPr lang="en-IN" dirty="0"/>
          </a:p>
          <a:p>
            <a:pPr marL="0" indent="0">
              <a:buNone/>
            </a:pPr>
            <a:r>
              <a:rPr lang="en-US" dirty="0"/>
              <a:t>Where:</a:t>
            </a:r>
            <a:endParaRPr lang="en-IN" dirty="0"/>
          </a:p>
          <a:p>
            <a:r>
              <a:rPr lang="en-US" dirty="0"/>
              <a:t>k = Boltzmann constant (1.38 × 10⁻²³ J/K)</a:t>
            </a:r>
            <a:endParaRPr lang="en-IN" dirty="0"/>
          </a:p>
          <a:p>
            <a:r>
              <a:rPr lang="en-US" dirty="0"/>
              <a:t>T = Absolute temperature (Kelvin)</a:t>
            </a:r>
            <a:endParaRPr lang="en-IN" dirty="0"/>
          </a:p>
          <a:p>
            <a:r>
              <a:rPr lang="en-US" dirty="0"/>
              <a:t>B = Bandwidth (Hz)</a:t>
            </a:r>
            <a:endParaRPr lang="en-IN" dirty="0"/>
          </a:p>
          <a:p>
            <a:endParaRPr lang="en-IN" dirty="0"/>
          </a:p>
        </p:txBody>
      </p:sp>
    </p:spTree>
    <p:extLst>
      <p:ext uri="{BB962C8B-B14F-4D97-AF65-F5344CB8AC3E}">
        <p14:creationId xmlns:p14="http://schemas.microsoft.com/office/powerpoint/2010/main" val="3967699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F92D2-9736-C274-8017-AD4335E630C2}"/>
              </a:ext>
            </a:extLst>
          </p:cNvPr>
          <p:cNvSpPr>
            <a:spLocks noGrp="1"/>
          </p:cNvSpPr>
          <p:nvPr>
            <p:ph type="title"/>
          </p:nvPr>
        </p:nvSpPr>
        <p:spPr>
          <a:xfrm>
            <a:off x="457200" y="274638"/>
            <a:ext cx="8229600" cy="2723086"/>
          </a:xfrm>
        </p:spPr>
        <p:txBody>
          <a:bodyPr>
            <a:normAutofit/>
          </a:bodyPr>
          <a:lstStyle/>
          <a:p>
            <a:pPr algn="just"/>
            <a:r>
              <a:rPr lang="en-US" b="1" dirty="0"/>
              <a:t>Voltage Model of a Noisy Resistor</a:t>
            </a:r>
            <a:br>
              <a:rPr lang="en-IN" b="1" dirty="0"/>
            </a:br>
            <a:br>
              <a:rPr lang="en-IN" dirty="0"/>
            </a:br>
            <a:r>
              <a:rPr lang="en-US" sz="2000" dirty="0"/>
              <a:t>A resistor can be represented by an equivalent circuit consisting of a noise voltage source in series with the resistor. This model is called the voltage model of a noisy resistor.</a:t>
            </a:r>
            <a:endParaRPr lang="en-IN" dirty="0"/>
          </a:p>
        </p:txBody>
      </p:sp>
      <p:pic>
        <p:nvPicPr>
          <p:cNvPr id="6" name="Content Placeholder 5">
            <a:extLst>
              <a:ext uri="{FF2B5EF4-FFF2-40B4-BE49-F238E27FC236}">
                <a16:creationId xmlns:a16="http://schemas.microsoft.com/office/drawing/2014/main" id="{52DB1744-49D8-6010-07AD-A62612898F9F}"/>
              </a:ext>
            </a:extLst>
          </p:cNvPr>
          <p:cNvPicPr>
            <a:picLocks noGrp="1" noChangeAspect="1"/>
          </p:cNvPicPr>
          <p:nvPr>
            <p:ph idx="1"/>
          </p:nvPr>
        </p:nvPicPr>
        <p:blipFill>
          <a:blip r:embed="rId2"/>
          <a:stretch>
            <a:fillRect/>
          </a:stretch>
        </p:blipFill>
        <p:spPr>
          <a:xfrm>
            <a:off x="2545238" y="2671235"/>
            <a:ext cx="2872656" cy="2378084"/>
          </a:xfrm>
          <a:prstGeom prst="rect">
            <a:avLst/>
          </a:prstGeom>
        </p:spPr>
      </p:pic>
      <p:pic>
        <p:nvPicPr>
          <p:cNvPr id="7" name="Content Placeholder 4">
            <a:extLst>
              <a:ext uri="{FF2B5EF4-FFF2-40B4-BE49-F238E27FC236}">
                <a16:creationId xmlns:a16="http://schemas.microsoft.com/office/drawing/2014/main" id="{53DA7310-F5E8-6B43-4D57-AA788999A9E1}"/>
              </a:ext>
            </a:extLst>
          </p:cNvPr>
          <p:cNvPicPr>
            <a:picLocks noChangeAspect="1"/>
          </p:cNvPicPr>
          <p:nvPr/>
        </p:nvPicPr>
        <p:blipFill>
          <a:blip r:embed="rId3"/>
          <a:stretch>
            <a:fillRect/>
          </a:stretch>
        </p:blipFill>
        <p:spPr>
          <a:xfrm>
            <a:off x="457201" y="5184742"/>
            <a:ext cx="7951508" cy="1673257"/>
          </a:xfrm>
          <a:prstGeom prst="rect">
            <a:avLst/>
          </a:prstGeom>
        </p:spPr>
      </p:pic>
    </p:spTree>
    <p:extLst>
      <p:ext uri="{BB962C8B-B14F-4D97-AF65-F5344CB8AC3E}">
        <p14:creationId xmlns:p14="http://schemas.microsoft.com/office/powerpoint/2010/main" val="42865129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13C0-F4D2-49F7-AF79-6D5EB040FCC6}"/>
              </a:ext>
            </a:extLst>
          </p:cNvPr>
          <p:cNvSpPr>
            <a:spLocks noGrp="1"/>
          </p:cNvSpPr>
          <p:nvPr>
            <p:ph type="title"/>
          </p:nvPr>
        </p:nvSpPr>
        <p:spPr/>
        <p:txBody>
          <a:bodyPr/>
          <a:lstStyle/>
          <a:p>
            <a:endParaRPr lang="en-IN"/>
          </a:p>
        </p:txBody>
      </p:sp>
      <p:pic>
        <p:nvPicPr>
          <p:cNvPr id="9" name="Content Placeholder 8">
            <a:extLst>
              <a:ext uri="{FF2B5EF4-FFF2-40B4-BE49-F238E27FC236}">
                <a16:creationId xmlns:a16="http://schemas.microsoft.com/office/drawing/2014/main" id="{0FBACD76-4993-9E0B-8ACD-1F522568FF00}"/>
              </a:ext>
            </a:extLst>
          </p:cNvPr>
          <p:cNvPicPr>
            <a:picLocks noGrp="1" noChangeAspect="1"/>
          </p:cNvPicPr>
          <p:nvPr>
            <p:ph idx="1"/>
          </p:nvPr>
        </p:nvPicPr>
        <p:blipFill>
          <a:blip r:embed="rId2"/>
          <a:stretch>
            <a:fillRect/>
          </a:stretch>
        </p:blipFill>
        <p:spPr>
          <a:xfrm>
            <a:off x="311085" y="0"/>
            <a:ext cx="8748073" cy="7060676"/>
          </a:xfrm>
          <a:prstGeom prst="rect">
            <a:avLst/>
          </a:prstGeom>
        </p:spPr>
      </p:pic>
    </p:spTree>
    <p:extLst>
      <p:ext uri="{BB962C8B-B14F-4D97-AF65-F5344CB8AC3E}">
        <p14:creationId xmlns:p14="http://schemas.microsoft.com/office/powerpoint/2010/main" val="7168532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E1226-F792-007F-DE8E-448BC3D77D1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8316CB0-3EB8-F685-6EB7-DA62033DE61F}"/>
              </a:ext>
            </a:extLst>
          </p:cNvPr>
          <p:cNvPicPr>
            <a:picLocks noGrp="1" noChangeAspect="1"/>
          </p:cNvPicPr>
          <p:nvPr>
            <p:ph idx="1"/>
          </p:nvPr>
        </p:nvPicPr>
        <p:blipFill>
          <a:blip r:embed="rId2"/>
          <a:stretch>
            <a:fillRect/>
          </a:stretch>
        </p:blipFill>
        <p:spPr>
          <a:xfrm>
            <a:off x="457200" y="274638"/>
            <a:ext cx="8229600" cy="5851525"/>
          </a:xfrm>
          <a:prstGeom prst="rect">
            <a:avLst/>
          </a:prstGeom>
        </p:spPr>
      </p:pic>
    </p:spTree>
    <p:extLst>
      <p:ext uri="{BB962C8B-B14F-4D97-AF65-F5344CB8AC3E}">
        <p14:creationId xmlns:p14="http://schemas.microsoft.com/office/powerpoint/2010/main" val="1714841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D3DB0-4217-C6AE-610D-CA586D1EE6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CD2DA11-A668-12FE-71FC-B445C6D0716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4BB43B3-359A-D512-EF75-2074874A62AD}"/>
              </a:ext>
            </a:extLst>
          </p:cNvPr>
          <p:cNvPicPr>
            <a:picLocks noChangeAspect="1"/>
          </p:cNvPicPr>
          <p:nvPr/>
        </p:nvPicPr>
        <p:blipFill>
          <a:blip r:embed="rId2"/>
          <a:stretch>
            <a:fillRect/>
          </a:stretch>
        </p:blipFill>
        <p:spPr>
          <a:xfrm>
            <a:off x="263951" y="274638"/>
            <a:ext cx="8084086" cy="5962575"/>
          </a:xfrm>
          <a:prstGeom prst="rect">
            <a:avLst/>
          </a:prstGeom>
        </p:spPr>
      </p:pic>
    </p:spTree>
    <p:extLst>
      <p:ext uri="{BB962C8B-B14F-4D97-AF65-F5344CB8AC3E}">
        <p14:creationId xmlns:p14="http://schemas.microsoft.com/office/powerpoint/2010/main" val="2096685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77635-730A-86DE-29C5-0C5E5609F80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08D1D94-C5B2-11D2-E2F1-DEC2F588721F}"/>
              </a:ext>
            </a:extLst>
          </p:cNvPr>
          <p:cNvPicPr>
            <a:picLocks noGrp="1" noChangeAspect="1"/>
          </p:cNvPicPr>
          <p:nvPr>
            <p:ph idx="1"/>
          </p:nvPr>
        </p:nvPicPr>
        <p:blipFill>
          <a:blip r:embed="rId2"/>
          <a:stretch>
            <a:fillRect/>
          </a:stretch>
        </p:blipFill>
        <p:spPr>
          <a:xfrm>
            <a:off x="457200" y="631596"/>
            <a:ext cx="8686800" cy="5494567"/>
          </a:xfrm>
          <a:prstGeom prst="rect">
            <a:avLst/>
          </a:prstGeom>
        </p:spPr>
      </p:pic>
    </p:spTree>
    <p:extLst>
      <p:ext uri="{BB962C8B-B14F-4D97-AF65-F5344CB8AC3E}">
        <p14:creationId xmlns:p14="http://schemas.microsoft.com/office/powerpoint/2010/main" val="2792807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6FD35-D2A0-19F6-5198-7480D4E5A151}"/>
              </a:ext>
            </a:extLst>
          </p:cNvPr>
          <p:cNvSpPr>
            <a:spLocks noGrp="1"/>
          </p:cNvSpPr>
          <p:nvPr>
            <p:ph type="title"/>
          </p:nvPr>
        </p:nvSpPr>
        <p:spPr/>
        <p:txBody>
          <a:bodyPr>
            <a:normAutofit fontScale="90000"/>
          </a:bodyPr>
          <a:lstStyle/>
          <a:p>
            <a:r>
              <a:rPr lang="en-US" b="1" dirty="0"/>
              <a:t>White Noise</a:t>
            </a:r>
            <a:br>
              <a:rPr lang="en-IN" b="1" dirty="0"/>
            </a:br>
            <a:endParaRPr lang="en-IN" dirty="0"/>
          </a:p>
        </p:txBody>
      </p:sp>
      <p:sp>
        <p:nvSpPr>
          <p:cNvPr id="3" name="Content Placeholder 2">
            <a:extLst>
              <a:ext uri="{FF2B5EF4-FFF2-40B4-BE49-F238E27FC236}">
                <a16:creationId xmlns:a16="http://schemas.microsoft.com/office/drawing/2014/main" id="{FE4253BC-A55D-6398-33EA-5C7253458790}"/>
              </a:ext>
            </a:extLst>
          </p:cNvPr>
          <p:cNvSpPr>
            <a:spLocks noGrp="1"/>
          </p:cNvSpPr>
          <p:nvPr>
            <p:ph idx="1"/>
          </p:nvPr>
        </p:nvSpPr>
        <p:spPr/>
        <p:txBody>
          <a:bodyPr>
            <a:normAutofit fontScale="92500" lnSpcReduction="10000"/>
          </a:bodyPr>
          <a:lstStyle/>
          <a:p>
            <a:pPr algn="just"/>
            <a:r>
              <a:rPr lang="en-US" sz="3000" dirty="0"/>
              <a:t>Noise in an idealized form is known as white noise. In communication system analysis an idealized form of noise is often assumed, called white noise.</a:t>
            </a:r>
            <a:endParaRPr lang="en-IN" sz="3000" dirty="0"/>
          </a:p>
          <a:p>
            <a:pPr algn="just"/>
            <a:r>
              <a:rPr lang="en-US" sz="3000" dirty="0"/>
              <a:t>White light consists of all </a:t>
            </a:r>
            <a:r>
              <a:rPr lang="en-US" sz="3000" dirty="0" err="1"/>
              <a:t>colour</a:t>
            </a:r>
            <a:r>
              <a:rPr lang="en-US" sz="3000" dirty="0"/>
              <a:t> frequencies in equal amount. In the same way white noise contains all frequencies in equal amount. </a:t>
            </a:r>
          </a:p>
          <a:p>
            <a:pPr algn="just"/>
            <a:r>
              <a:rPr lang="en-US" sz="3000" dirty="0"/>
              <a:t>The power density spectrum of white noise is independent of frequency. If the probability density function of white noise is Gaussian, it is called white Gaussian noise.</a:t>
            </a:r>
            <a:endParaRPr lang="en-IN" sz="3000" dirty="0"/>
          </a:p>
          <a:p>
            <a:endParaRPr lang="en-IN" dirty="0"/>
          </a:p>
        </p:txBody>
      </p:sp>
    </p:spTree>
    <p:extLst>
      <p:ext uri="{BB962C8B-B14F-4D97-AF65-F5344CB8AC3E}">
        <p14:creationId xmlns:p14="http://schemas.microsoft.com/office/powerpoint/2010/main" val="274849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4A064-D1F5-13C5-B162-D3A734F429F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89654E4-B62C-92B0-5886-659A2007F104}"/>
              </a:ext>
            </a:extLst>
          </p:cNvPr>
          <p:cNvPicPr>
            <a:picLocks noGrp="1" noChangeAspect="1"/>
          </p:cNvPicPr>
          <p:nvPr>
            <p:ph idx="1"/>
          </p:nvPr>
        </p:nvPicPr>
        <p:blipFill>
          <a:blip r:embed="rId2"/>
          <a:stretch>
            <a:fillRect/>
          </a:stretch>
        </p:blipFill>
        <p:spPr>
          <a:xfrm>
            <a:off x="1503681" y="379565"/>
            <a:ext cx="6177280" cy="2778415"/>
          </a:xfrm>
          <a:prstGeom prst="rect">
            <a:avLst/>
          </a:prstGeom>
        </p:spPr>
      </p:pic>
      <p:pic>
        <p:nvPicPr>
          <p:cNvPr id="7" name="Picture 6">
            <a:extLst>
              <a:ext uri="{FF2B5EF4-FFF2-40B4-BE49-F238E27FC236}">
                <a16:creationId xmlns:a16="http://schemas.microsoft.com/office/drawing/2014/main" id="{FA3EDA61-DE17-E8F7-6EF9-79BF183741F9}"/>
              </a:ext>
            </a:extLst>
          </p:cNvPr>
          <p:cNvPicPr>
            <a:picLocks noChangeAspect="1"/>
          </p:cNvPicPr>
          <p:nvPr/>
        </p:nvPicPr>
        <p:blipFill>
          <a:blip r:embed="rId3"/>
          <a:stretch>
            <a:fillRect/>
          </a:stretch>
        </p:blipFill>
        <p:spPr>
          <a:xfrm>
            <a:off x="1219201" y="3891280"/>
            <a:ext cx="7152640" cy="2587155"/>
          </a:xfrm>
          <a:prstGeom prst="rect">
            <a:avLst/>
          </a:prstGeom>
        </p:spPr>
      </p:pic>
      <p:sp>
        <p:nvSpPr>
          <p:cNvPr id="9" name="TextBox 8">
            <a:extLst>
              <a:ext uri="{FF2B5EF4-FFF2-40B4-BE49-F238E27FC236}">
                <a16:creationId xmlns:a16="http://schemas.microsoft.com/office/drawing/2014/main" id="{B1384076-9546-A99C-26B3-A463B1DB3709}"/>
              </a:ext>
            </a:extLst>
          </p:cNvPr>
          <p:cNvSpPr txBox="1"/>
          <p:nvPr/>
        </p:nvSpPr>
        <p:spPr>
          <a:xfrm>
            <a:off x="2286000" y="3429000"/>
            <a:ext cx="5476240" cy="392159"/>
          </a:xfrm>
          <a:prstGeom prst="rect">
            <a:avLst/>
          </a:prstGeom>
          <a:noFill/>
        </p:spPr>
        <p:txBody>
          <a:bodyPr wrap="square">
            <a:spAutoFit/>
          </a:bodyPr>
          <a:lstStyle/>
          <a:p>
            <a:pPr>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Fig 6.15 – Power spectrum and autocorrelation</a:t>
            </a:r>
            <a:endParaRPr lang="en-IN"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p:txBody>
      </p:sp>
    </p:spTree>
    <p:extLst>
      <p:ext uri="{BB962C8B-B14F-4D97-AF65-F5344CB8AC3E}">
        <p14:creationId xmlns:p14="http://schemas.microsoft.com/office/powerpoint/2010/main" val="3490034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0D152-218F-1BDA-0431-CB01FC6FAC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C7EBF40-0B70-F288-32B6-C0AC37154345}"/>
              </a:ext>
            </a:extLst>
          </p:cNvPr>
          <p:cNvSpPr>
            <a:spLocks noGrp="1"/>
          </p:cNvSpPr>
          <p:nvPr>
            <p:ph idx="1"/>
          </p:nvPr>
        </p:nvSpPr>
        <p:spPr/>
        <p:txBody>
          <a:bodyPr>
            <a:normAutofit fontScale="92500" lnSpcReduction="20000"/>
          </a:bodyPr>
          <a:lstStyle/>
          <a:p>
            <a:pPr algn="just"/>
            <a:r>
              <a:rPr lang="en-US" dirty="0"/>
              <a:t>Since the power density spectrum of thermal and shot noise are independent of operating frequencies, thermal noise and shot noise can be treated as white Gaussian noise for practical purposes.</a:t>
            </a:r>
            <a:endParaRPr lang="en-IN" dirty="0"/>
          </a:p>
          <a:p>
            <a:pPr algn="just"/>
            <a:r>
              <a:rPr lang="en-US" dirty="0"/>
              <a:t>The power spectrum of white noise is expressed as:</a:t>
            </a:r>
            <a:endParaRPr lang="en-IN" dirty="0"/>
          </a:p>
          <a:p>
            <a:pPr marL="0" indent="0" algn="just">
              <a:buNone/>
            </a:pPr>
            <a:r>
              <a:rPr lang="en-US" dirty="0"/>
              <a:t>                      Sₙ(ω) = N₀ / 2</a:t>
            </a:r>
            <a:endParaRPr lang="en-IN" dirty="0"/>
          </a:p>
          <a:p>
            <a:pPr algn="just"/>
            <a:r>
              <a:rPr lang="en-US" dirty="0"/>
              <a:t>Half of the noise power is associated with positive frequencies and the remaining half with negative frequencies.</a:t>
            </a:r>
            <a:endParaRPr lang="en-IN" dirty="0"/>
          </a:p>
          <a:p>
            <a:endParaRPr lang="en-IN" dirty="0"/>
          </a:p>
        </p:txBody>
      </p:sp>
    </p:spTree>
    <p:extLst>
      <p:ext uri="{BB962C8B-B14F-4D97-AF65-F5344CB8AC3E}">
        <p14:creationId xmlns:p14="http://schemas.microsoft.com/office/powerpoint/2010/main" val="2819665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85E9-C114-01DB-63A5-69AB31B7A19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D43F8CB-4F38-FAF4-8ED8-259D48E602A7}"/>
              </a:ext>
            </a:extLst>
          </p:cNvPr>
          <p:cNvSpPr>
            <a:spLocks noGrp="1"/>
          </p:cNvSpPr>
          <p:nvPr>
            <p:ph idx="1"/>
          </p:nvPr>
        </p:nvSpPr>
        <p:spPr>
          <a:xfrm>
            <a:off x="457200" y="707010"/>
            <a:ext cx="8229600" cy="5419153"/>
          </a:xfrm>
        </p:spPr>
        <p:txBody>
          <a:bodyPr>
            <a:normAutofit lnSpcReduction="10000"/>
          </a:bodyPr>
          <a:lstStyle/>
          <a:p>
            <a:r>
              <a:rPr lang="en-US" dirty="0"/>
              <a:t>The autocorrelation function of white noise is obtained as:</a:t>
            </a:r>
            <a:endParaRPr lang="en-IN" dirty="0"/>
          </a:p>
          <a:p>
            <a:pPr marL="0" indent="0">
              <a:buNone/>
            </a:pPr>
            <a:r>
              <a:rPr lang="en-US" dirty="0"/>
              <a:t>                       Rₙ(τ) = (N₀ / 2) δ(τ)</a:t>
            </a:r>
            <a:endParaRPr lang="en-IN" dirty="0"/>
          </a:p>
          <a:p>
            <a:r>
              <a:rPr lang="en-US" dirty="0"/>
              <a:t>The autocorrelation function contains a delta function scaled by N₀/2 and located at τ = 0.</a:t>
            </a:r>
            <a:endParaRPr lang="en-IN" dirty="0"/>
          </a:p>
          <a:p>
            <a:r>
              <a:rPr lang="en-US" dirty="0"/>
              <a:t>Strictly speaking, white noise has infinite average power and hence it is not physically realizable.</a:t>
            </a:r>
          </a:p>
          <a:p>
            <a:r>
              <a:rPr lang="en-US" dirty="0"/>
              <a:t> However, it provides convenient mathematical properties and is widely used in communication system analysis.</a:t>
            </a:r>
            <a:endParaRPr lang="en-IN" dirty="0"/>
          </a:p>
          <a:p>
            <a:endParaRPr lang="en-IN" dirty="0"/>
          </a:p>
        </p:txBody>
      </p:sp>
    </p:spTree>
    <p:extLst>
      <p:ext uri="{BB962C8B-B14F-4D97-AF65-F5344CB8AC3E}">
        <p14:creationId xmlns:p14="http://schemas.microsoft.com/office/powerpoint/2010/main" val="1224120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1B8E6-BB20-C595-CFCA-E4BEF22473A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8551A21-142E-602E-0A62-9989BD1397C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60CA6AC-5F72-6D4D-F393-5C3835E5850D}"/>
              </a:ext>
            </a:extLst>
          </p:cNvPr>
          <p:cNvPicPr>
            <a:picLocks noChangeAspect="1"/>
          </p:cNvPicPr>
          <p:nvPr/>
        </p:nvPicPr>
        <p:blipFill>
          <a:blip r:embed="rId2"/>
          <a:stretch>
            <a:fillRect/>
          </a:stretch>
        </p:blipFill>
        <p:spPr>
          <a:xfrm>
            <a:off x="103195" y="274638"/>
            <a:ext cx="8748573" cy="6437247"/>
          </a:xfrm>
          <a:prstGeom prst="rect">
            <a:avLst/>
          </a:prstGeom>
        </p:spPr>
      </p:pic>
    </p:spTree>
    <p:extLst>
      <p:ext uri="{BB962C8B-B14F-4D97-AF65-F5344CB8AC3E}">
        <p14:creationId xmlns:p14="http://schemas.microsoft.com/office/powerpoint/2010/main" val="1874149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62</TotalTime>
  <Words>1443</Words>
  <Application>Microsoft Office PowerPoint</Application>
  <PresentationFormat>On-screen Show (4:3)</PresentationFormat>
  <Paragraphs>103</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MODULE II  NOISE</vt:lpstr>
      <vt:lpstr>NOISE- DEFINITION</vt:lpstr>
      <vt:lpstr>Classification of Noise </vt:lpstr>
      <vt:lpstr>External noise</vt:lpstr>
      <vt:lpstr>Atmospheric Noise </vt:lpstr>
      <vt:lpstr>PowerPoint Presentation</vt:lpstr>
      <vt:lpstr>Extraterrestrial Noise </vt:lpstr>
      <vt:lpstr>Cosmic Noise </vt:lpstr>
      <vt:lpstr>Industrial Noise</vt:lpstr>
      <vt:lpstr>Internal noise</vt:lpstr>
      <vt:lpstr>PowerPoint Presentation</vt:lpstr>
      <vt:lpstr>PowerPoint Presentation</vt:lpstr>
      <vt:lpstr>Shot Noise</vt:lpstr>
      <vt:lpstr>Shot Noise in Diodes</vt:lpstr>
      <vt:lpstr>Current Fluctuation</vt:lpstr>
      <vt:lpstr>PowerPoint Presentation</vt:lpstr>
      <vt:lpstr>Shot Noise</vt:lpstr>
      <vt:lpstr>Power Density Spectrum</vt:lpstr>
      <vt:lpstr>Frequency Property</vt:lpstr>
      <vt:lpstr>Thermal Noise</vt:lpstr>
      <vt:lpstr>Voltage Model of a Noisy Resistor  A resistor can be represented by an equivalent circuit consisting of a noise voltage source in series with the resistor. This model is called the voltage model of a noisy resistor.</vt:lpstr>
      <vt:lpstr>PowerPoint Presentation</vt:lpstr>
      <vt:lpstr>PowerPoint Presentation</vt:lpstr>
      <vt:lpstr>PowerPoint Presentation</vt:lpstr>
      <vt:lpstr>PowerPoint Presentation</vt:lpstr>
      <vt:lpstr>White Noise </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Naveed</dc:creator>
  <cp:keywords/>
  <dc:description>generated using python-pptx</dc:description>
  <cp:lastModifiedBy>Naveed Mohammed</cp:lastModifiedBy>
  <cp:revision>4</cp:revision>
  <dcterms:created xsi:type="dcterms:W3CDTF">2013-01-27T09:14:16Z</dcterms:created>
  <dcterms:modified xsi:type="dcterms:W3CDTF">2026-03-04T19:04:53Z</dcterms:modified>
  <cp:category/>
</cp:coreProperties>
</file>