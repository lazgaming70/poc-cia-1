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8415-47C9-C6DF-9D4A-403DE2BC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3EA47-2063-20F4-7155-3D7AAFD74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2AF30-1709-ED78-9C79-562A2CCF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0F8B-6635-2CD5-FCA4-ECC80043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D6CD1-B3F3-19D2-A007-39CBF7D3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51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9C49-2134-A77F-EF15-FEA7D6D8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BC08A-62C1-5142-C697-DD7E29B5D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A933A-36E4-3289-F56E-0A977E7D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05CDB-BEF2-ADDD-0E66-0BFFCBE4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AB04-84FE-5C97-A3BA-1498B3CB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0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819BB-80D4-BB29-9427-987E45E4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3B76-5055-BD3C-93FE-63C0BC818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8F325-5FF0-D790-E062-114847C7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05990-48CF-4BEF-D8FB-1D4FC424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D6558-2862-3A2D-1E94-B166A80E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45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1E6B-02A0-34FD-1FD4-9B71A0D8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F926-2850-5CAB-5C8C-DF22F11B9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B0E59-8E03-32CE-B166-B6A164A70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C6C08-4454-6B4B-3C86-B8CB4A02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85500-A95E-1CF6-7FC9-A6802C00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F7C01-6D35-3B09-A1FF-4CFDF4A6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4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FFE2-ACBD-6109-D363-FEBE3647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E0789-BEEF-205C-FE1C-C3D03E53D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0B2F0-9B9C-08B2-52B4-9CDCA973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F91EE-BF89-000D-BC3C-B843E1BFD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DBA56-F15A-4599-D6A9-CD8B15DDE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F7279-4FC6-858D-1096-9773FFC3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7B6F8-4DB9-BF4A-FE35-63550772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8179D-81FA-79CF-2717-72D1D44D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3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AED6-7408-FA10-590A-FDEFB677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E6142-5D94-E0A7-450B-583562FC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A8648-A3D8-B93C-996C-DDAD407E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53E61-52CC-AB35-2FE5-7A8B2A43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90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62D70-4969-D235-4758-209FBD59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28C69-4165-2C8C-0864-1AA1A060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811B9-AAD9-97D7-C5ED-215E7E88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07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D77-A004-21B1-5DE7-18DB684C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D072C-D987-0887-B4EA-FC8E2508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BDE89-601B-6236-82C6-A54409A55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11251-2914-DAF8-4B50-57FBDC2A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5269C-0D8B-1C92-CB77-29BBBEED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1995E-4318-B58F-49FA-82EF7065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5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3F09-EF51-74AC-08A2-324682C2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2D0BC-A9BE-DCC0-6B0D-79AA41E93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FF87C-6421-906E-EBE8-866300C1E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049A7-83B4-5013-E721-53B2C387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95C65-233B-CE8A-C8B5-7327DB03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B5953-BABC-4FB6-4643-B03D91E3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61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97B6-10F2-F384-6F34-4B936E981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183E1-DBB3-5A0B-AE12-6778C931A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2C9F8-A0C9-7DDA-50FD-E60C4D1F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60EEA-94E4-83DB-DD1C-93918406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3DAC4-BA2A-6E50-955C-4E0DF522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40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CB467-BEF7-117E-F3CD-DCD50057F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7F959-F685-5421-2171-BA71370D5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602DF-FEF5-819B-9C28-0F40ED52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6D3CC-2A41-B69C-8A19-851172F3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DC69F-84BE-1340-44D3-9C4CAB51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2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CC21F-0039-D942-84DF-B329BD91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C67DF-E45D-E469-4E5F-13A308188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038EC-C855-2C32-E8DF-1199ED7AA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3768-84ED-45CC-AD93-F6340468ABB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8CCC6-F980-F6A2-9BCF-205982DA2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DCA95-6080-7B36-E156-94EAA146F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D1643-1CD4-4DCD-AEB7-FB07D9271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5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83D5-C78B-329D-238C-744DC023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GAUSSIAN PROCESS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947FC0-179E-5B35-9BD4-16C4B20BDE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Gaussian process</a:t>
                </a:r>
                <a:r>
                  <a:rPr lang="en-US" dirty="0"/>
                  <a:t> is a random process in which the </a:t>
                </a:r>
                <a:r>
                  <a:rPr lang="en-US" b="1" dirty="0"/>
                  <a:t>probability distribution of the signal values is Gaussian (normal distribution)</a:t>
                </a:r>
                <a:r>
                  <a:rPr lang="en-US" dirty="0"/>
                  <a:t> at any instant of time.</a:t>
                </a:r>
              </a:p>
              <a:p>
                <a:r>
                  <a:rPr lang="en-US" dirty="0"/>
                  <a:t>In simple words:</a:t>
                </a:r>
                <a:br>
                  <a:rPr lang="en-US" dirty="0"/>
                </a:br>
                <a:r>
                  <a:rPr lang="en-US" dirty="0"/>
                  <a:t>If the amplitude values of a random signal follow a </a:t>
                </a:r>
                <a:r>
                  <a:rPr lang="en-US" b="1" dirty="0"/>
                  <a:t>normal (bell-shaped) distribution</a:t>
                </a:r>
                <a:r>
                  <a:rPr lang="en-US" dirty="0"/>
                  <a:t>, the signal is called a </a:t>
                </a:r>
                <a:r>
                  <a:rPr lang="en-US" b="1" dirty="0"/>
                  <a:t>Gaussian process</a:t>
                </a:r>
                <a:r>
                  <a:rPr lang="en-US" dirty="0"/>
                  <a:t>.</a:t>
                </a:r>
              </a:p>
              <a:p>
                <a:r>
                  <a:rPr lang="en-IN" dirty="0"/>
                  <a:t>A random process 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IN" dirty="0"/>
                  <a:t>is called a </a:t>
                </a:r>
                <a:r>
                  <a:rPr lang="en-IN" b="1" dirty="0"/>
                  <a:t>Gaussian process</a:t>
                </a:r>
                <a:r>
                  <a:rPr lang="en-IN" dirty="0"/>
                  <a:t> if </a:t>
                </a:r>
                <a:r>
                  <a:rPr lang="en-IN" b="1" dirty="0"/>
                  <a:t>any set of samples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𝑋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,</m:t>
                      </m:r>
                      <m:r>
                        <a:rPr lang="ar-AE" i="1"/>
                        <m:t>𝑋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,</m:t>
                      </m:r>
                      <m:r>
                        <a:rPr lang="ar-AE" i="1"/>
                        <m:t>𝑋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  <m:sub>
                              <m:r>
                                <a:rPr lang="ar-AE"/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,...,</m:t>
                      </m:r>
                      <m:r>
                        <a:rPr lang="ar-AE" i="1"/>
                        <m:t>𝑋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  <m:sub>
                              <m:r>
                                <a:rPr lang="ar-AE" i="1"/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have a </a:t>
                </a:r>
                <a:r>
                  <a:rPr lang="en-IN" b="1" dirty="0"/>
                  <a:t>joint Gaussian distribution</a:t>
                </a:r>
                <a:r>
                  <a:rPr lang="en-IN" dirty="0"/>
                  <a:t>.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947FC0-179E-5B35-9BD4-16C4B20BDE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36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8577-FD8F-9DF3-0D76-A52A1924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65F16-F9B5-5E6F-9473-E26949596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Gaussian distribution is given by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IN" i="1"/>
                      <m:t>𝑝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/>
                            </m:ctrlPr>
                          </m:radPr>
                          <m:deg/>
                          <m:e>
                            <m:r>
                              <a:rPr lang="ar-AE"/>
                              <m:t>2</m:t>
                            </m:r>
                            <m:r>
                              <a:rPr lang="ar-AE" i="1"/>
                              <m:t>𝜋</m:t>
                            </m:r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𝜎</m:t>
                                </m:r>
                              </m:e>
                              <m:sup>
                                <m:r>
                                  <a:rPr lang="ar-AE"/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𝑒</m:t>
                        </m:r>
                      </m:e>
                      <m:sup>
                        <m:r>
                          <a:rPr lang="ar-AE"/>
                          <m:t>−</m:t>
                        </m:r>
                        <m:f>
                          <m:fPr>
                            <m:ctrlPr>
                              <a:rPr lang="ar-AE" i="1"/>
                            </m:ctrlPr>
                          </m:fPr>
                          <m:num>
                            <m:d>
                              <m:dPr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 i="1"/>
                                  <m:t>𝑥</m:t>
                                </m:r>
                                <m:r>
                                  <a:rPr lang="ar-AE"/>
                                  <m:t>−</m:t>
                                </m:r>
                                <m:r>
                                  <a:rPr lang="ar-AE" i="1"/>
                                  <m:t>𝜇</m:t>
                                </m:r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/>
                                        </m:ctrlPr>
                                      </m:dPr>
                                      <m:e>
                                        <m:r>
                                          <a:rPr lang="ar-AE"/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ar-AE"/>
                              <m:t>2</m:t>
                            </m:r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𝜎</m:t>
                                </m:r>
                              </m:e>
                              <m:sup>
                                <m:r>
                                  <a:rPr lang="ar-AE"/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= Mean value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𝜎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= </a:t>
                </a:r>
                <a:r>
                  <a:rPr lang="en-IN" dirty="0"/>
                  <a:t>Variance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dirty="0"/>
                  <a:t>= Standard deviation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65F16-F9B5-5E6F-9473-E26949596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65C64ED-0745-91E5-465D-76D87194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750" y="3429000"/>
            <a:ext cx="5418290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5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C2D6-2451-166F-FD90-A4EE963A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IN" b="1" dirty="0" err="1"/>
              <a:t>roperties</a:t>
            </a:r>
            <a:r>
              <a:rPr lang="en-IN" b="1" dirty="0"/>
              <a:t> of Gaussian Process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8E190F-03E7-1A85-5607-72BBBF6A9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1.Completely defined by two parameters</a:t>
                </a:r>
                <a:endParaRPr lang="en-IN" dirty="0"/>
              </a:p>
              <a:p>
                <a:pPr lvl="1"/>
                <a:r>
                  <a:rPr lang="en-IN" dirty="0"/>
                  <a:t>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𝑚</m:t>
                        </m:r>
                      </m:e>
                      <m:sub>
                        <m:r>
                          <a:rPr lang="ar-AE" i="1"/>
                          <m:t>𝑥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IN" dirty="0"/>
                  <a:t>Autocorrelation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𝑅</m:t>
                        </m:r>
                      </m:e>
                      <m:sub>
                        <m:r>
                          <a:rPr lang="ar-AE" i="1"/>
                          <m:t>𝑥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𝑡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𝑡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2.Linear operations preserve Gaussian nature</a:t>
                </a:r>
                <a:endParaRPr lang="en-IN" dirty="0"/>
              </a:p>
              <a:p>
                <a:pPr lvl="1"/>
                <a:r>
                  <a:rPr lang="en-IN" dirty="0"/>
                  <a:t>If a Gaussian process passes through a </a:t>
                </a:r>
                <a:r>
                  <a:rPr lang="en-IN" b="1" dirty="0"/>
                  <a:t>linear system</a:t>
                </a:r>
                <a:r>
                  <a:rPr lang="en-IN" dirty="0"/>
                  <a:t>, the output is also Gaussian.</a:t>
                </a:r>
              </a:p>
              <a:p>
                <a:pPr marL="0" indent="0">
                  <a:buNone/>
                </a:pPr>
                <a:r>
                  <a:rPr lang="en-IN" b="1" dirty="0"/>
                  <a:t>3.Sum of Gaussian variables is also Gaussian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4.Commonly used to model noise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8E190F-03E7-1A85-5607-72BBBF6A9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67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450B-3911-9E05-39C4-8C59C5B7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2B1DB-5E77-01EC-2BB6-EE87AE186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 normal distribution, the mean, median and mode are equal.(i.e., Mean = Median= Mode).</a:t>
            </a:r>
          </a:p>
          <a:p>
            <a:r>
              <a:rPr lang="en-US" dirty="0"/>
              <a:t>The total area under the curve should be equal to 1.</a:t>
            </a:r>
          </a:p>
          <a:p>
            <a:r>
              <a:rPr lang="en-US" dirty="0"/>
              <a:t>The normally distributed curve should be symmetric at the </a:t>
            </a:r>
            <a:r>
              <a:rPr lang="en-US" dirty="0" err="1"/>
              <a:t>centre</a:t>
            </a:r>
            <a:r>
              <a:rPr lang="en-US" dirty="0"/>
              <a:t>.</a:t>
            </a:r>
          </a:p>
          <a:p>
            <a:r>
              <a:rPr lang="en-US" dirty="0"/>
              <a:t>There should be exactly half of the values are to the right of the </a:t>
            </a:r>
            <a:r>
              <a:rPr lang="en-US" dirty="0" err="1"/>
              <a:t>centre</a:t>
            </a:r>
            <a:r>
              <a:rPr lang="en-US" dirty="0"/>
              <a:t> and exactly half of the values are to the left of the </a:t>
            </a:r>
            <a:r>
              <a:rPr lang="en-US" dirty="0" err="1"/>
              <a:t>centre</a:t>
            </a:r>
            <a:r>
              <a:rPr lang="en-US" dirty="0"/>
              <a:t>.</a:t>
            </a:r>
          </a:p>
          <a:p>
            <a:r>
              <a:rPr lang="en-US" dirty="0"/>
              <a:t>The normal distribution should be defined by the mean and standard deviation.</a:t>
            </a:r>
          </a:p>
          <a:p>
            <a:r>
              <a:rPr lang="en-US" dirty="0"/>
              <a:t>The normal distribution curve must have only one peak. (i.e., Unimodal)</a:t>
            </a:r>
          </a:p>
          <a:p>
            <a:r>
              <a:rPr lang="en-US" dirty="0"/>
              <a:t>The curve approaches the x-axis, but it never touches, and it extends farther away from the mean.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22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8F4C-2D20-A412-7537-DE45BCABF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D7944-451F-EA45-0A58-38E40C68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common example is:</a:t>
            </a:r>
          </a:p>
          <a:p>
            <a:pPr marL="0" indent="0">
              <a:buNone/>
            </a:pPr>
            <a:r>
              <a:rPr lang="en-US" b="1" dirty="0"/>
              <a:t>White Gaussian Noise (WGN)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Noise in communication systems is often assumed to be:</a:t>
            </a:r>
          </a:p>
          <a:p>
            <a:r>
              <a:rPr lang="en-US" b="1" dirty="0"/>
              <a:t>White</a:t>
            </a:r>
            <a:r>
              <a:rPr lang="en-US" dirty="0"/>
              <a:t> → equal power at all frequencies</a:t>
            </a:r>
          </a:p>
          <a:p>
            <a:r>
              <a:rPr lang="en-US" b="1" dirty="0"/>
              <a:t>Gaussian</a:t>
            </a:r>
            <a:r>
              <a:rPr lang="en-US" dirty="0"/>
              <a:t> → amplitude follows Gaussian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67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194A3-8CD7-C6AD-2B52-D877E75A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EFADC-05E9-A2DC-7351-3F672C2DA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Gaussian process</a:t>
            </a:r>
            <a:r>
              <a:rPr lang="en-US" dirty="0"/>
              <a:t> means the </a:t>
            </a:r>
            <a:r>
              <a:rPr lang="en-US" b="1" dirty="0"/>
              <a:t>amplitude of noise follows a Gaussian (normal) distribution</a:t>
            </a:r>
            <a:r>
              <a:rPr lang="en-US" dirty="0"/>
              <a:t>.</a:t>
            </a:r>
          </a:p>
          <a:p>
            <a:r>
              <a:rPr lang="en-US" dirty="0"/>
              <a:t>If you measure the noise voltage many times, the values will form a </a:t>
            </a:r>
            <a:r>
              <a:rPr lang="en-US" b="1" dirty="0"/>
              <a:t>bell-shaped curve</a:t>
            </a:r>
            <a:r>
              <a:rPr lang="en-US" dirty="0"/>
              <a:t>.</a:t>
            </a:r>
          </a:p>
          <a:p>
            <a:r>
              <a:rPr lang="en-US" b="1" dirty="0"/>
              <a:t>White noise</a:t>
            </a:r>
            <a:r>
              <a:rPr lang="en-US" dirty="0"/>
              <a:t> means the </a:t>
            </a:r>
            <a:r>
              <a:rPr lang="en-US" b="1" dirty="0"/>
              <a:t>noise power is the same at all frequencies</a:t>
            </a:r>
            <a:r>
              <a:rPr lang="en-US" dirty="0"/>
              <a:t>.</a:t>
            </a:r>
          </a:p>
          <a:p>
            <a:r>
              <a:rPr lang="en-US" b="1" dirty="0"/>
              <a:t>White noise → describes how noise power is spread over frequency.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Thermal noise has two properties:</a:t>
            </a:r>
          </a:p>
          <a:p>
            <a:r>
              <a:rPr lang="en-US" b="1" dirty="0"/>
              <a:t>Power is independent of frequency → White noise</a:t>
            </a:r>
            <a:endParaRPr lang="en-US" dirty="0"/>
          </a:p>
          <a:p>
            <a:r>
              <a:rPr lang="en-US" b="1" dirty="0"/>
              <a:t>Amplitude follows Gaussian distribution → Gaussian process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9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4180-CEBD-5734-8B98-930A6776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BEB7-27C9-470D-0C15-51948F636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Thermal noise is modeled as white Gaussian noise because its power spectral density is constant over frequency (white) and its amplitude distribution follows Gaussian statistics.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22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442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GAUSSIAN PROCESS</vt:lpstr>
      <vt:lpstr>PowerPoint Presentation</vt:lpstr>
      <vt:lpstr>Properties of Gaussian Process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Naveed Mohammed</dc:creator>
  <cp:lastModifiedBy>Naveed Mohammed</cp:lastModifiedBy>
  <cp:revision>1</cp:revision>
  <dcterms:created xsi:type="dcterms:W3CDTF">2026-03-04T19:06:53Z</dcterms:created>
  <dcterms:modified xsi:type="dcterms:W3CDTF">2026-03-04T19:16:24Z</dcterms:modified>
</cp:coreProperties>
</file>